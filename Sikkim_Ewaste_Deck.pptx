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Generated (t)</c:v>
                </c:pt>
              </c:strCache>
            </c:strRef>
          </c:tx>
          <c:spPr>
            <a:solidFill>
              <a:srgbClr val="B759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Gangtok</c:v>
                  </c:pt>
                  <c:pt idx="1">
                    <c:v>Namchi</c:v>
                  </c:pt>
                  <c:pt idx="2">
                    <c:v>Gyalshing</c:v>
                  </c:pt>
                  <c:pt idx="3">
                    <c:v>Pakyong</c:v>
                  </c:pt>
                  <c:pt idx="4">
                    <c:v>Mangan</c:v>
                  </c:pt>
                  <c:pt idx="5">
                    <c:v>Soreng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52.5</c:v>
                </c:pt>
                <c:pt idx="2">
                  <c:v>52.5</c:v>
                </c:pt>
                <c:pt idx="3">
                  <c:v>31.5</c:v>
                </c:pt>
                <c:pt idx="4">
                  <c:v>28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 (t)</c:v>
                </c:pt>
              </c:strCache>
            </c:strRef>
          </c:tx>
          <c:spPr>
            <a:solidFill>
              <a:srgbClr val="D9A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Gangtok</c:v>
                  </c:pt>
                  <c:pt idx="1">
                    <c:v>Namchi</c:v>
                  </c:pt>
                  <c:pt idx="2">
                    <c:v>Gyalshing</c:v>
                  </c:pt>
                  <c:pt idx="3">
                    <c:v>Pakyong</c:v>
                  </c:pt>
                  <c:pt idx="4">
                    <c:v>Mangan</c:v>
                  </c:pt>
                  <c:pt idx="5">
                    <c:v>Soreng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</c:v>
                </c:pt>
                <c:pt idx="1">
                  <c:v>4.7</c:v>
                </c:pt>
                <c:pt idx="2">
                  <c:v>2.6</c:v>
                </c:pt>
                <c:pt idx="3">
                  <c:v>3.3</c:v>
                </c:pt>
                <c:pt idx="4">
                  <c:v>0.9</c:v>
                </c:pt>
                <c:pt idx="5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A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FC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4A3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4A38"/>
                    </a:solidFill>
                    <a:latin typeface="Arial"/>
                  </a:rPr>
                  <a:t>Tonnes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A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5937"/>
              </a:solidFill>
              <a:effectLst/>
            </c:spPr>
          </c:dPt>
          <c:dPt>
            <c:idx val="1"/>
            <c:bubble3D val="0"/>
            <c:spPr>
              <a:solidFill>
                <a:srgbClr val="D9A02B"/>
              </a:solidFill>
              <a:effectLst/>
            </c:spPr>
          </c:dPt>
          <c:dPt>
            <c:idx val="2"/>
            <c:bubble3D val="0"/>
            <c:spPr>
              <a:solidFill>
                <a:srgbClr val="6B7C4F"/>
              </a:solidFill>
              <a:effectLst/>
            </c:spPr>
          </c:dPt>
          <c:dPt>
            <c:idx val="3"/>
            <c:bubble3D val="0"/>
            <c:spPr>
              <a:solidFill>
                <a:srgbClr val="8B6F4E"/>
              </a:solidFill>
              <a:effectLst/>
            </c:spPr>
          </c:dPt>
          <c:dPt>
            <c:idx val="4"/>
            <c:bubble3D val="0"/>
            <c:spPr>
              <a:solidFill>
                <a:srgbClr val="C9BFA8"/>
              </a:solidFill>
              <a:effectLst/>
            </c:spPr>
          </c:dPt>
          <c:dPt>
            <c:idx val="5"/>
            <c:bubble3D val="0"/>
            <c:spPr>
              <a:solidFill>
                <a:srgbClr val="E5DFC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261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Large/small equip.</c:v>
                </c:pt>
                <c:pt idx="1">
                  <c:v>IT &amp; telecom</c:v>
                </c:pt>
                <c:pt idx="2">
                  <c:v>Consumer electronics</c:v>
                </c:pt>
                <c:pt idx="3">
                  <c:v>Batteries</c:v>
                </c:pt>
                <c:pt idx="4">
                  <c:v>Lighting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33</c:v>
                </c:pt>
                <c:pt idx="1">
                  <c:v>27</c:v>
                </c:pt>
                <c:pt idx="2">
                  <c:v>23</c:v>
                </c:pt>
                <c:pt idx="3">
                  <c:v>9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5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SUB-NATIONAL E-WASTE SERIES  ·  INDIA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E-Waste It Wisely at the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Sub-National Level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21792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District-Level Assessment of Generation, Collection &amp; Recycling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 Sikkim, India — FY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2926080" cy="0"/>
          </a:xfrm>
          <a:prstGeom prst="line">
            <a:avLst/>
          </a:prstGeom>
          <a:noFill/>
          <a:ln w="28575">
            <a:solidFill>
              <a:srgbClr val="B75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7033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districts. One dashboard. A 5.9% capture rate against 310.5 tonnes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— the same collection-infrastructure gap documented across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developing regions, now visible at state scale.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Tanmay Lalge  ·  Yukta Padekar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Vidyalankar Institute of Technology, Mumbai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66760" y="777240"/>
            <a:ext cx="3246120" cy="53492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SIKKIM · SIX DISTRICTS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141732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4721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Mangan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17465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recycler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95560" y="141732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 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95360" y="214884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2DDD2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2037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Gangtok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4780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state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95560" y="214884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75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120.0 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288036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935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Gyalshing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20954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95560" y="288036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95360" y="361188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36667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Pakyong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39410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 present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95560" y="361188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 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95360" y="434340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3982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Namchi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467258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 present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95560" y="434340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95360" y="5074920"/>
            <a:ext cx="2834640" cy="621792"/>
          </a:xfrm>
          <a:prstGeom prst="roundRect">
            <a:avLst>
              <a:gd name="adj" fmla="val 8824"/>
            </a:avLst>
          </a:prstGeom>
          <a:solidFill>
            <a:srgbClr val="F4EFE3"/>
          </a:solidFill>
          <a:ln w="9525">
            <a:solidFill>
              <a:srgbClr val="D8C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51297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Soreng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54041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recycler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95560" y="507492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B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 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State Pollution Control Board, E-Waste Management Dashboard, FY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Capture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and reporting are mature; formal collection is not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B759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SHORTFALL</a:t>
            </a:r>
            <a:endParaRPr lang="en-US" sz="1500" dirty="0"/>
          </a:p>
        </p:txBody>
      </p:sp>
      <p:pic>
        <p:nvPicPr>
          <p:cNvPr id="6" name="Image 0" descr="icons/trend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671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310.5 t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statewide in FY 2026, across all six districts</a:t>
            </a:r>
            <a:endParaRPr lang="en-US" sz="3000" dirty="0"/>
          </a:p>
        </p:txBody>
      </p:sp>
      <p:pic>
        <p:nvPicPr>
          <p:cNvPr id="8" name="Image 1" descr="icons/map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08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358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 t (5.9%)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6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collected — a roughly 17-to-1 generation-to-collection gap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868680" y="4023360"/>
            <a:ext cx="4800600" cy="0"/>
          </a:xfrm>
          <a:prstGeom prst="line">
            <a:avLst/>
          </a:prstGeom>
          <a:noFill/>
          <a:ln w="9525">
            <a:solidFill>
              <a:srgbClr val="D98F73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86868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Gangtok — the best-resourced district — captures only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its own generation. Sikkim's 5.9% statewide capture rate sits well below the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average reported for 2019.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6B7C4F"/>
          </a:solidFill>
          <a:ln/>
        </p:spPr>
      </p:sp>
      <p:sp>
        <p:nvSpPr>
          <p:cNvPr id="13" name="Text 9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500" dirty="0"/>
          </a:p>
        </p:txBody>
      </p:sp>
      <p:pic>
        <p:nvPicPr>
          <p:cNvPr id="14" name="Image 2" descr="icons/recy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1671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t/yr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recycling capacity across 3 authorised facilities</a:t>
            </a:r>
            <a:endParaRPr lang="en-US" sz="3000" dirty="0"/>
          </a:p>
        </p:txBody>
      </p:sp>
      <p:pic>
        <p:nvPicPr>
          <p:cNvPr id="16" name="Image 3" descr="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089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0358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3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8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achievement against target — 12 of 20 producers fully compliant</a:t>
            </a:r>
            <a:endParaRPr lang="en-US" sz="3000" dirty="0"/>
          </a:p>
        </p:txBody>
      </p:sp>
      <p:sp>
        <p:nvSpPr>
          <p:cNvPr id="18" name="Shape 12"/>
          <p:cNvSpPr/>
          <p:nvPr/>
        </p:nvSpPr>
        <p:spPr>
          <a:xfrm>
            <a:off x="6492240" y="4023360"/>
            <a:ext cx="4800600" cy="0"/>
          </a:xfrm>
          <a:prstGeom prst="line">
            <a:avLst/>
          </a:prstGeom>
          <a:noFill/>
          <a:ln w="9525">
            <a:solidFill>
              <a:srgbClr val="B9C7A3"/>
            </a:solidFill>
            <a:prstDash val="dash"/>
          </a:ln>
        </p:spPr>
      </p:sp>
      <p:sp>
        <p:nvSpPr>
          <p:cNvPr id="19" name="Text 13"/>
          <p:cNvSpPr/>
          <p:nvPr/>
        </p:nvSpPr>
        <p:spPr>
          <a:xfrm>
            <a:off x="649224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already exceeds total generation, and recyclers run at only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utilisation. The binding constraint is upstream collection, not downstream processing — a logistics problem, not an engineering one.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94360" y="63276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 Sikkim's constraint is not legislative absence — it is weak collection infrastructure, uneven district coverage, and limited informal-sector formalisation.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District Divide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Gangtok concentrates generation, recyclers, and outreach; three districts have none of the three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vs. COLLECTED (TONNES)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87452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41732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&amp; COVERAGE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938528"/>
          <a:ext cx="3657600" cy="34290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777240"/>
                <a:gridCol w="6858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Gangtok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Pakyong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Gyalshing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Soreng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7424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Gangtok alone generates </a:t>
            </a:r>
            <a:pPr indent="0" marL="0">
              <a:buNone/>
            </a:pPr>
            <a:r>
              <a:rPr lang="en-US" sz="1200" b="1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pPr indent="0" marL="0">
              <a:buNone/>
            </a:pPr>
            <a:r>
              <a:rPr lang="en-US" sz="12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state total. Gyalshing, Mangan, and Soreng have no authorised recycler; Gyalshing and Mangan have received no awareness programme at all.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 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the Waste Stream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Sikkim throws away, and who is licensed to process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MIX BY CATEGORY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68680" y="1874520"/>
          <a:ext cx="2743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794760" y="1993392"/>
            <a:ext cx="146304" cy="146304"/>
          </a:xfrm>
          <a:prstGeom prst="rect">
            <a:avLst/>
          </a:prstGeom>
          <a:solidFill>
            <a:srgbClr val="B75937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Large/small equip.  —  33%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94760" y="2414016"/>
            <a:ext cx="146304" cy="146304"/>
          </a:xfrm>
          <a:prstGeom prst="rect">
            <a:avLst/>
          </a:prstGeom>
          <a:solidFill>
            <a:srgbClr val="D9A02B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telecom  —  27%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94760" y="2834640"/>
            <a:ext cx="146304" cy="146304"/>
          </a:xfrm>
          <a:prstGeom prst="rect">
            <a:avLst/>
          </a:prstGeom>
          <a:solidFill>
            <a:srgbClr val="6B7C4F"/>
          </a:solidFill>
          <a:ln/>
        </p:spPr>
      </p:sp>
      <p:sp>
        <p:nvSpPr>
          <p:cNvPr id="12" name="Text 9"/>
          <p:cNvSpPr/>
          <p:nvPr/>
        </p:nvSpPr>
        <p:spPr>
          <a:xfrm>
            <a:off x="4023360" y="27523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  —  23%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3255264"/>
            <a:ext cx="146304" cy="146304"/>
          </a:xfrm>
          <a:prstGeom prst="rect">
            <a:avLst/>
          </a:prstGeom>
          <a:solidFill>
            <a:srgbClr val="8B6F4E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3172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 —  9%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94760" y="3675888"/>
            <a:ext cx="146304" cy="146304"/>
          </a:xfrm>
          <a:prstGeom prst="rect">
            <a:avLst/>
          </a:prstGeom>
          <a:solidFill>
            <a:srgbClr val="C9BFA8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35935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 —  4%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94760" y="4096512"/>
            <a:ext cx="146304" cy="146304"/>
          </a:xfrm>
          <a:prstGeom prst="rect">
            <a:avLst/>
          </a:prstGeom>
          <a:solidFill>
            <a:srgbClr val="E5DFCE"/>
          </a:solidFill>
          <a:ln/>
        </p:spPr>
      </p:sp>
      <p:sp>
        <p:nvSpPr>
          <p:cNvPr id="18" name="Text 15"/>
          <p:cNvSpPr/>
          <p:nvPr/>
        </p:nvSpPr>
        <p:spPr>
          <a:xfrm>
            <a:off x="4023360" y="4014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—  4%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5029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&amp; small equipment — bulkier, more hazardous, least likely to be captured informally — is the single largest category.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4173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0936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RECYCLERS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029200" cy="16002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822960"/>
                <a:gridCol w="82296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Cap. (t/yr)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Sikkim Eco Dismantlers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Recyclers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Himalayan E-Waste Sol.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Pakyong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26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6309360" y="3703320"/>
            <a:ext cx="5029200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pic>
        <p:nvPicPr>
          <p:cNvPr id="24" name="Image 0" descr="icons/factory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886200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0" y="384048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t/yr capacity vs. 310.5 t generated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utilisation is only ~63%. All three facilities sit in just three of six districts — Gyalshing, Mangan, and Soreng have none.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 II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Toll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labour still carries the system, and outreach hasn't reached everyone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6" name="Image 0" descr="icons/users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97 identified informal e-waste workers are registered or trained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68680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hotspot clusters — MG Marg (Gangtok), Namchi Scrap Market, and Pakyong Repair Cluster — show similar 40–47% registration, so the gap is broad-based, not localised.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53458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27778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14" name="Image 1" descr="icons/droplet_o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18928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7778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27778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of 3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627778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sites shows contamination — minor water impact at Pakyong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27778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4627778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people screened at two health camps; no camp yet held at Namchi Scrap Market. Air and soil are within limits at the other two sites — a favourable, early-stage picture.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8112557" y="150876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8CFB8"/>
            </a:solidFill>
            <a:prstDash val="solid"/>
          </a:ln>
          <a:effectLst>
            <a:outerShdw sx="100000" sy="100000" kx="0" ky="0" algn="bl" rotWithShape="0" blurRad="76200" dist="25400" dir="5400000">
              <a:srgbClr val="332619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86877" y="1783080"/>
            <a:ext cx="502920" cy="502920"/>
          </a:xfrm>
          <a:prstGeom prst="oval">
            <a:avLst/>
          </a:prstGeom>
          <a:solidFill>
            <a:srgbClr val="E4E9D8"/>
          </a:solidFill>
          <a:ln/>
        </p:spPr>
      </p:sp>
      <p:pic>
        <p:nvPicPr>
          <p:cNvPr id="22" name="Image 2" descr="icons/megaphone_ol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189280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86877" y="2423160"/>
            <a:ext cx="29361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REACH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86877" y="2697480"/>
            <a:ext cx="29361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5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of 6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8386877" y="3291840"/>
            <a:ext cx="29361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32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reached by an awareness campaign so far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386877" y="4069080"/>
            <a:ext cx="2936138" cy="0"/>
          </a:xfrm>
          <a:prstGeom prst="line">
            <a:avLst/>
          </a:prstGeom>
          <a:noFill/>
          <a:ln w="9525">
            <a:solidFill>
              <a:srgbClr val="D8CFB8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8386877" y="4206240"/>
            <a:ext cx="293613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1,580 people reached across three campaigns — led by an 850-person door-to-door drive in Gangtok. Gyalshing and Mangan have had no outreach at all.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Sikkim SPCB E-Waste Management Dashboard, FY 2026 — Tables III &amp; related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61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Roadmap to Closing the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priorities to move Sikkim from compliant on paper to captured in practice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icons/layers_must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22219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Expand Collection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039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collection points beyond the current 8 centres, prioritising bulky large/small equipment — 33% of the stream and least likely to be captured informally.</a:t>
            </a:r>
            <a:endParaRPr lang="en-US" sz="1100" dirty="0"/>
          </a:p>
        </p:txBody>
      </p:sp>
      <p:pic>
        <p:nvPicPr>
          <p:cNvPr id="12" name="Image 1" descr="icons/arrowRight_must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721608"/>
            <a:ext cx="201168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503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15" name="Text 11"/>
          <p:cNvSpPr/>
          <p:nvPr/>
        </p:nvSpPr>
        <p:spPr>
          <a:xfrm>
            <a:off x="368503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icons/mapPin_must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2219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8503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 the Gaps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68503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8503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recycling and outreach to Gyalshing, Mangan, and Soreng using shared or mobile collection points modelled on Gangtok's approach.</a:t>
            </a:r>
            <a:endParaRPr lang="en-US" sz="1100" dirty="0"/>
          </a:p>
        </p:txBody>
      </p:sp>
      <p:pic>
        <p:nvPicPr>
          <p:cNvPr id="20" name="Image 3" descr="icons/arrowRight_must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721608"/>
            <a:ext cx="201168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6364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1967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23" name="Text 17"/>
          <p:cNvSpPr/>
          <p:nvPr/>
        </p:nvSpPr>
        <p:spPr>
          <a:xfrm>
            <a:off x="651967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4" descr="icons/shield_must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222199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1967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Formalise Labour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51967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51967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train the 56 of 97 informal workers still uncovered, across all three hotspot clusters, with PPE included at registration.</a:t>
            </a:r>
            <a:endParaRPr lang="en-US" sz="1100" dirty="0"/>
          </a:p>
        </p:txBody>
      </p:sp>
      <p:pic>
        <p:nvPicPr>
          <p:cNvPr id="28" name="Image 5" descr="icons/arrowRight_must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721608"/>
            <a:ext cx="201168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98280" y="18745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3F3222"/>
          </a:solidFill>
          <a:ln w="12700">
            <a:solidFill>
              <a:srgbClr val="5A4A3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354312" y="2148840"/>
            <a:ext cx="548640" cy="548640"/>
          </a:xfrm>
          <a:prstGeom prst="oval">
            <a:avLst/>
          </a:prstGeom>
          <a:solidFill>
            <a:srgbClr val="B75937"/>
          </a:solidFill>
          <a:ln/>
        </p:spPr>
      </p:sp>
      <p:sp>
        <p:nvSpPr>
          <p:cNvPr id="31" name="Text 23"/>
          <p:cNvSpPr/>
          <p:nvPr/>
        </p:nvSpPr>
        <p:spPr>
          <a:xfrm>
            <a:off x="935431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pic>
        <p:nvPicPr>
          <p:cNvPr id="32" name="Image 6" descr="icons/check_must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2528" y="2221992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354312" y="283464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Reconcile &amp; Monitor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9354312" y="3291840"/>
            <a:ext cx="2093976" cy="0"/>
          </a:xfrm>
          <a:prstGeom prst="line">
            <a:avLst/>
          </a:prstGeom>
          <a:noFill/>
          <a:ln w="9525">
            <a:solidFill>
              <a:srgbClr val="5A4A38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354312" y="3429000"/>
            <a:ext cx="20939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83.9% EPR vs. 5.9% capture gap, run the outstanding Namchi health camp, and publish the dashboard quarterly instead of once.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9436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Sikkim's recycling capacity, EPR reporting, and regulatory monitoring already work. Collection logistics — not new law or new plants — is the lever most likely to move the 5.9% capture rate.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290B5AD9-D9B1-406E-B886-2C4E232C0649}"/>
</file>

<file path=customXml/itemProps2.xml><?xml version="1.0" encoding="utf-8"?>
<ds:datastoreItem xmlns:ds="http://schemas.openxmlformats.org/officeDocument/2006/customXml" ds:itemID="{5EFAAD80-0548-4D0A-B7B6-EAB1FEB7BC55}"/>
</file>

<file path=customXml/itemProps3.xml><?xml version="1.0" encoding="utf-8"?>
<ds:datastoreItem xmlns:ds="http://schemas.openxmlformats.org/officeDocument/2006/customXml" ds:itemID="{641D643E-2B67-4B1B-BAEA-291B5765CAC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2026-08-11T03:11:50Z</dcterms:created>
  <dcterms:modified xsi:type="dcterms:W3CDTF">2026-08-11T03:11:50Z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