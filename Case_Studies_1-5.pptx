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7589520" cy="777240"/>
          </a:xfrm>
          <a:prstGeom prst="rect">
            <a:avLst/>
          </a:prstGeom>
          <a:noFill/>
          <a:ln/>
        </p:spPr>
        <p:txBody>
          <a:bodyPr wrap="square" lIns="0" tIns="0" rIns="0" bIns="0" rtlCol="0" anchor="ctr"/>
          <a:lstStyle/>
          <a:p>
            <a:pPr indent="0" marL="0">
              <a:buNone/>
            </a:pPr>
            <a:r>
              <a:rPr lang="en-US" sz="2200" b="1" dirty="0">
                <a:solidFill>
                  <a:srgbClr val="1B4332"/>
                </a:solidFill>
                <a:latin typeface="Cambria" pitchFamily="34" charset="0"/>
                <a:ea typeface="Cambria" pitchFamily="34" charset="-122"/>
                <a:cs typeface="Cambria" pitchFamily="34" charset="-120"/>
              </a:rPr>
              <a:t>Why Japan Recycles More Than Most Countries: Lessons for India</a:t>
            </a:r>
            <a:endParaRPr lang="en-US" sz="2200" dirty="0"/>
          </a:p>
        </p:txBody>
      </p:sp>
      <p:sp>
        <p:nvSpPr>
          <p:cNvPr id="3" name="Shape 1"/>
          <p:cNvSpPr/>
          <p:nvPr/>
        </p:nvSpPr>
        <p:spPr>
          <a:xfrm>
            <a:off x="8183880" y="256032"/>
            <a:ext cx="1737360" cy="777240"/>
          </a:xfrm>
          <a:prstGeom prst="rect">
            <a:avLst/>
          </a:prstGeom>
          <a:solidFill>
            <a:srgbClr val="1B4332"/>
          </a:solidFill>
          <a:ln w="12700">
            <a:solidFill>
              <a:srgbClr val="1B4332"/>
            </a:solidFill>
            <a:prstDash val="solid"/>
          </a:ln>
        </p:spPr>
      </p:sp>
      <p:sp>
        <p:nvSpPr>
          <p:cNvPr id="4" name="Text 2"/>
          <p:cNvSpPr txBox="1"/>
          <p:nvPr/>
        </p:nvSpPr>
        <p:spPr>
          <a:xfrm>
            <a:off x="82296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99.2%</a:t>
            </a:r>
            <a:endParaRPr lang="en-US" sz="2000" dirty="0"/>
          </a:p>
        </p:txBody>
      </p:sp>
      <p:sp>
        <p:nvSpPr>
          <p:cNvPr id="5" name="Text 3"/>
          <p:cNvSpPr txBox="1"/>
          <p:nvPr/>
        </p:nvSpPr>
        <p:spPr>
          <a:xfrm>
            <a:off x="82296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waste reduction rate, FY2024</a:t>
            </a:r>
            <a:endParaRPr lang="en-US" sz="850" dirty="0"/>
          </a:p>
        </p:txBody>
      </p:sp>
      <p:sp>
        <p:nvSpPr>
          <p:cNvPr id="6" name="Shape 4"/>
          <p:cNvSpPr/>
          <p:nvPr/>
        </p:nvSpPr>
        <p:spPr>
          <a:xfrm>
            <a:off x="10012680" y="256032"/>
            <a:ext cx="1737360" cy="777240"/>
          </a:xfrm>
          <a:prstGeom prst="rect">
            <a:avLst/>
          </a:prstGeom>
          <a:solidFill>
            <a:srgbClr val="1B4332"/>
          </a:solidFill>
          <a:ln w="12700">
            <a:solidFill>
              <a:srgbClr val="1B4332"/>
            </a:solidFill>
            <a:prstDash val="solid"/>
          </a:ln>
        </p:spPr>
      </p:sp>
      <p:sp>
        <p:nvSpPr>
          <p:cNvPr id="7" name="Text 5"/>
          <p:cNvSpPr txBox="1"/>
          <p:nvPr/>
        </p:nvSpPr>
        <p:spPr>
          <a:xfrm>
            <a:off x="100584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19.3%</a:t>
            </a:r>
            <a:endParaRPr lang="en-US" sz="2000" dirty="0"/>
          </a:p>
        </p:txBody>
      </p:sp>
      <p:sp>
        <p:nvSpPr>
          <p:cNvPr id="8" name="Text 6"/>
          <p:cNvSpPr txBox="1"/>
          <p:nvPr/>
        </p:nvSpPr>
        <p:spPr>
          <a:xfrm>
            <a:off x="100584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material recycling rate, FY2024</a:t>
            </a:r>
            <a:endParaRPr lang="en-US" sz="850" dirty="0"/>
          </a:p>
        </p:txBody>
      </p:sp>
      <p:sp>
        <p:nvSpPr>
          <p:cNvPr id="9" name="Shape 7"/>
          <p:cNvSpPr/>
          <p:nvPr/>
        </p:nvSpPr>
        <p:spPr>
          <a:xfrm>
            <a:off x="411480" y="1143000"/>
            <a:ext cx="11365992" cy="731520"/>
          </a:xfrm>
          <a:prstGeom prst="rect">
            <a:avLst/>
          </a:prstGeom>
          <a:solidFill>
            <a:srgbClr val="F1F7F2"/>
          </a:solidFill>
          <a:ln w="12700">
            <a:solidFill>
              <a:srgbClr val="F1F7F2"/>
            </a:solidFill>
            <a:prstDash val="solid"/>
          </a:ln>
        </p:spPr>
      </p:sp>
      <p:sp>
        <p:nvSpPr>
          <p:cNvPr id="10" name="Text 8"/>
          <p:cNvSpPr txBox="1"/>
          <p:nvPr/>
        </p:nvSpPr>
        <p:spPr>
          <a:xfrm>
            <a:off x="521208" y="1161288"/>
            <a:ext cx="11155680" cy="694944"/>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Executive Summary  </a:t>
            </a:r>
            <a:pPr indent="0" marL="0">
              <a:buNone/>
            </a:pPr>
            <a:r>
              <a:rPr lang="en-US" sz="1000" dirty="0">
                <a:solidFill>
                  <a:srgbClr val="1F2933"/>
                </a:solidFill>
                <a:latin typeface="Calibri" pitchFamily="34" charset="0"/>
                <a:ea typeface="Calibri" pitchFamily="34" charset="-122"/>
                <a:cs typeface="Calibri" pitchFamily="34" charset="-120"/>
              </a:rPr>
              <a:t>Japan's system is built on the 3Rs — Reduce, Reuse, Recycle — not recycling alone. It combines source separation, producer responsibility, municipal systems, high-capacity treatment and disciplined public participation. The key lesson: Japan's strength is a 99.2% waste-reduction rate and controlled residual-waste management, not the world's highest recycling percentage.</a:t>
            </a:r>
            <a:endParaRPr lang="en-US" sz="1100" dirty="0"/>
          </a:p>
        </p:txBody>
      </p:sp>
      <p:sp>
        <p:nvSpPr>
          <p:cNvPr id="11" name="Shape 9"/>
          <p:cNvSpPr/>
          <p:nvPr/>
        </p:nvSpPr>
        <p:spPr>
          <a:xfrm>
            <a:off x="411480" y="1965960"/>
            <a:ext cx="2697480" cy="2240280"/>
          </a:xfrm>
          <a:prstGeom prst="rect">
            <a:avLst/>
          </a:prstGeom>
          <a:solidFill>
            <a:srgbClr val="F1F7F2"/>
          </a:solidFill>
          <a:ln w="12700">
            <a:solidFill>
              <a:srgbClr val="F1F7F2"/>
            </a:solidFill>
            <a:prstDash val="solid"/>
          </a:ln>
        </p:spPr>
      </p:sp>
      <p:sp>
        <p:nvSpPr>
          <p:cNvPr id="12" name="Text 10"/>
          <p:cNvSpPr txBox="1"/>
          <p:nvPr/>
        </p:nvSpPr>
        <p:spPr>
          <a:xfrm>
            <a:off x="52120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Background</a:t>
            </a:r>
            <a:endParaRPr lang="en-US" sz="1100" dirty="0"/>
          </a:p>
        </p:txBody>
      </p:sp>
      <p:sp>
        <p:nvSpPr>
          <p:cNvPr id="13" name="Text 11"/>
          <p:cNvSpPr txBox="1"/>
          <p:nvPr/>
        </p:nvSpPr>
        <p:spPr>
          <a:xfrm>
            <a:off x="52120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Ministry of the Environment policy: 'Sound Material-Cycle Society' with the 3R hierarchy</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Municipalities run collection and treatment; national policy sets laws, targets and framework</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Source separation and citizen participation route recyclables to the right stream</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Heavy thermal treatment: 41.9% of incineration plants had power generation (FY2024)</a:t>
            </a:r>
            <a:endParaRPr lang="en-US" sz="1000" dirty="0"/>
          </a:p>
        </p:txBody>
      </p:sp>
      <p:sp>
        <p:nvSpPr>
          <p:cNvPr id="14" name="Shape 12"/>
          <p:cNvSpPr/>
          <p:nvPr/>
        </p:nvSpPr>
        <p:spPr>
          <a:xfrm>
            <a:off x="3291840" y="1965960"/>
            <a:ext cx="2697480" cy="2240280"/>
          </a:xfrm>
          <a:prstGeom prst="rect">
            <a:avLst/>
          </a:prstGeom>
          <a:solidFill>
            <a:srgbClr val="F1F7F2"/>
          </a:solidFill>
          <a:ln w="12700">
            <a:solidFill>
              <a:srgbClr val="F1F7F2"/>
            </a:solidFill>
            <a:prstDash val="solid"/>
          </a:ln>
        </p:spPr>
      </p:sp>
      <p:sp>
        <p:nvSpPr>
          <p:cNvPr id="15" name="Text 13"/>
          <p:cNvSpPr txBox="1"/>
          <p:nvPr/>
        </p:nvSpPr>
        <p:spPr>
          <a:xfrm>
            <a:off x="340156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Strategy / Initiative</a:t>
            </a:r>
            <a:endParaRPr lang="en-US" sz="1100" dirty="0"/>
          </a:p>
        </p:txBody>
      </p:sp>
      <p:sp>
        <p:nvSpPr>
          <p:cNvPr id="16" name="Text 14"/>
          <p:cNvSpPr txBox="1"/>
          <p:nvPr/>
        </p:nvSpPr>
        <p:spPr>
          <a:xfrm>
            <a:off x="340156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3R hierarchy: prevent, reuse, then recycle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Source separation with scheduled collection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Product-specific laws (containers/packaging, electrical appliances)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Incineration with energy recovery for residual waste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Public participation backed by clear municipal rules</a:t>
            </a:r>
            <a:endParaRPr lang="en-US" sz="1000" dirty="0"/>
          </a:p>
        </p:txBody>
      </p:sp>
      <p:sp>
        <p:nvSpPr>
          <p:cNvPr id="17" name="Shape 15"/>
          <p:cNvSpPr/>
          <p:nvPr/>
        </p:nvSpPr>
        <p:spPr>
          <a:xfrm>
            <a:off x="6172200" y="1965960"/>
            <a:ext cx="2697480" cy="2240280"/>
          </a:xfrm>
          <a:prstGeom prst="rect">
            <a:avLst/>
          </a:prstGeom>
          <a:solidFill>
            <a:srgbClr val="F1F7F2"/>
          </a:solidFill>
          <a:ln w="12700">
            <a:solidFill>
              <a:srgbClr val="F1F7F2"/>
            </a:solidFill>
            <a:prstDash val="solid"/>
          </a:ln>
        </p:spPr>
      </p:sp>
      <p:sp>
        <p:nvSpPr>
          <p:cNvPr id="18" name="Text 16"/>
          <p:cNvSpPr txBox="1"/>
          <p:nvPr/>
        </p:nvSpPr>
        <p:spPr>
          <a:xfrm>
            <a:off x="628192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Impact &amp; Results</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281928" y="2331720"/>
          <a:ext cx="2478024" cy="914400"/>
        </p:xfrm>
        <a:graphic>
          <a:graphicData uri="http://schemas.openxmlformats.org/drawingml/2006/table">
            <a:tbl>
              <a:tblPr/>
              <a:tblGrid>
                <a:gridCol w="1371600"/>
                <a:gridCol w="1106424"/>
              </a:tblGrid>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Municipal waste, FY2024</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38.11 million 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Waste per person</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839 g/day</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Waste reduction rate</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99.2%</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Material recycling rate</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19.3%</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Recycled waste</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7.38 million 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Plants with power generation</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41.9%</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bl>
          </a:graphicData>
        </a:graphic>
      </p:graphicFrame>
      <p:sp>
        <p:nvSpPr>
          <p:cNvPr id="20" name="Shape 17"/>
          <p:cNvSpPr/>
          <p:nvPr/>
        </p:nvSpPr>
        <p:spPr>
          <a:xfrm>
            <a:off x="9052560" y="1965960"/>
            <a:ext cx="2697480" cy="2240280"/>
          </a:xfrm>
          <a:prstGeom prst="rect">
            <a:avLst/>
          </a:prstGeom>
          <a:solidFill>
            <a:srgbClr val="F1F7F2"/>
          </a:solidFill>
          <a:ln w="12700">
            <a:solidFill>
              <a:srgbClr val="F1F7F2"/>
            </a:solidFill>
            <a:prstDash val="solid"/>
          </a:ln>
        </p:spPr>
      </p:sp>
      <p:sp>
        <p:nvSpPr>
          <p:cNvPr id="21" name="Text 18"/>
          <p:cNvSpPr txBox="1"/>
          <p:nvPr/>
        </p:nvSpPr>
        <p:spPr>
          <a:xfrm>
            <a:off x="916228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Comparison with India</a:t>
            </a:r>
            <a:endParaRPr lang="en-US" sz="1100" dirty="0"/>
          </a:p>
        </p:txBody>
      </p:sp>
      <p:sp>
        <p:nvSpPr>
          <p:cNvPr id="22" name="Text 19"/>
          <p:cNvSpPr txBox="1"/>
          <p:nvPr/>
        </p:nvSpPr>
        <p:spPr>
          <a:xfrm>
            <a:off x="916228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India is moving toward segregation, EPR and scientific processing, but city-level implementation varies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India's 2024-25 e-waste: 13,97,955.59 t generated, 70.71% handled — a different stream, not comparable to Japan's MSW recycling rate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Adapt: predictable collection, citizen compliance, take-back, transparent measurement</a:t>
            </a:r>
            <a:endParaRPr lang="en-US" sz="1000" dirty="0"/>
          </a:p>
        </p:txBody>
      </p:sp>
      <p:sp>
        <p:nvSpPr>
          <p:cNvPr id="23" name="Shape 20"/>
          <p:cNvSpPr/>
          <p:nvPr/>
        </p:nvSpPr>
        <p:spPr>
          <a:xfrm>
            <a:off x="411480" y="4315968"/>
            <a:ext cx="2761488" cy="996696"/>
          </a:xfrm>
          <a:prstGeom prst="rect">
            <a:avLst/>
          </a:prstGeom>
          <a:solidFill>
            <a:srgbClr val="E3F1E6"/>
          </a:solidFill>
          <a:ln w="12700">
            <a:solidFill>
              <a:srgbClr val="E3F1E6"/>
            </a:solidFill>
            <a:prstDash val="solid"/>
          </a:ln>
        </p:spPr>
      </p:sp>
      <p:sp>
        <p:nvSpPr>
          <p:cNvPr id="24" name="Text 21"/>
          <p:cNvSpPr txBox="1"/>
          <p:nvPr/>
        </p:nvSpPr>
        <p:spPr>
          <a:xfrm>
            <a:off x="521208" y="4370832"/>
            <a:ext cx="2542032"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25" name="Text 22"/>
          <p:cNvSpPr txBox="1"/>
          <p:nvPr/>
        </p:nvSpPr>
        <p:spPr>
          <a:xfrm>
            <a:off x="521208"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Strong 3R policy framework</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 public participation in separation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Large treatment infrastructure</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Long-term national planning</a:t>
            </a:r>
            <a:endParaRPr lang="en-US" sz="900" dirty="0"/>
          </a:p>
        </p:txBody>
      </p:sp>
      <p:sp>
        <p:nvSpPr>
          <p:cNvPr id="26" name="Shape 23"/>
          <p:cNvSpPr/>
          <p:nvPr/>
        </p:nvSpPr>
        <p:spPr>
          <a:xfrm>
            <a:off x="3264408" y="4315968"/>
            <a:ext cx="2761488" cy="996696"/>
          </a:xfrm>
          <a:prstGeom prst="rect">
            <a:avLst/>
          </a:prstGeom>
          <a:solidFill>
            <a:srgbClr val="FCEFD9"/>
          </a:solidFill>
          <a:ln w="12700">
            <a:solidFill>
              <a:srgbClr val="FCEFD9"/>
            </a:solidFill>
            <a:prstDash val="solid"/>
          </a:ln>
        </p:spPr>
      </p:sp>
      <p:sp>
        <p:nvSpPr>
          <p:cNvPr id="27" name="Text 24"/>
          <p:cNvSpPr txBox="1"/>
          <p:nvPr/>
        </p:nvSpPr>
        <p:spPr>
          <a:xfrm>
            <a:off x="3374136" y="4370832"/>
            <a:ext cx="2542032" cy="256032"/>
          </a:xfrm>
          <a:prstGeom prst="rect">
            <a:avLst/>
          </a:prstGeom>
          <a:noFill/>
          <a:ln/>
        </p:spPr>
        <p:txBody>
          <a:bodyPr wrap="square" lIns="0" tIns="0" rIns="0" bIns="0" rtlCol="0" anchor="ctr"/>
          <a:lstStyle/>
          <a:p>
            <a:pPr indent="0" marL="0">
              <a:buNone/>
            </a:pPr>
            <a:r>
              <a:rPr lang="en-US" sz="1100" b="1" dirty="0">
                <a:solidFill>
                  <a:srgbClr val="8A5300"/>
                </a:solidFill>
                <a:latin typeface="Calibri" pitchFamily="34" charset="0"/>
                <a:ea typeface="Calibri" pitchFamily="34" charset="-122"/>
                <a:cs typeface="Calibri" pitchFamily="34" charset="-120"/>
              </a:rPr>
              <a:t>WEAKNESSES</a:t>
            </a:r>
            <a:endParaRPr lang="en-US" sz="1100" dirty="0"/>
          </a:p>
        </p:txBody>
      </p:sp>
      <p:sp>
        <p:nvSpPr>
          <p:cNvPr id="28" name="Text 25"/>
          <p:cNvSpPr txBox="1"/>
          <p:nvPr/>
        </p:nvSpPr>
        <p:spPr>
          <a:xfrm>
            <a:off x="3374136"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 dependence on incineration for residual waste</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Material recycling rate not exceptionally high</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Infrastructure is capital intensive</a:t>
            </a:r>
            <a:endParaRPr lang="en-US" sz="900" dirty="0"/>
          </a:p>
        </p:txBody>
      </p:sp>
      <p:sp>
        <p:nvSpPr>
          <p:cNvPr id="29" name="Shape 26"/>
          <p:cNvSpPr/>
          <p:nvPr/>
        </p:nvSpPr>
        <p:spPr>
          <a:xfrm>
            <a:off x="411480" y="5404104"/>
            <a:ext cx="2761488" cy="996696"/>
          </a:xfrm>
          <a:prstGeom prst="rect">
            <a:avLst/>
          </a:prstGeom>
          <a:solidFill>
            <a:srgbClr val="DDEFF3"/>
          </a:solidFill>
          <a:ln w="12700">
            <a:solidFill>
              <a:srgbClr val="DDEFF3"/>
            </a:solidFill>
            <a:prstDash val="solid"/>
          </a:ln>
        </p:spPr>
      </p:sp>
      <p:sp>
        <p:nvSpPr>
          <p:cNvPr id="30" name="Text 27"/>
          <p:cNvSpPr txBox="1"/>
          <p:nvPr/>
        </p:nvSpPr>
        <p:spPr>
          <a:xfrm>
            <a:off x="521208" y="5458968"/>
            <a:ext cx="2542032" cy="256032"/>
          </a:xfrm>
          <a:prstGeom prst="rect">
            <a:avLst/>
          </a:prstGeom>
          <a:noFill/>
          <a:ln/>
        </p:spPr>
        <p:txBody>
          <a:bodyPr wrap="square" lIns="0" tIns="0" rIns="0" bIns="0" rtlCol="0" anchor="ctr"/>
          <a:lstStyle/>
          <a:p>
            <a:pPr indent="0" marL="0">
              <a:buNone/>
            </a:pPr>
            <a:r>
              <a:rPr lang="en-US" sz="1100" b="1" dirty="0">
                <a:solidFill>
                  <a:srgbClr val="1F6F8B"/>
                </a:solidFill>
                <a:latin typeface="Calibri" pitchFamily="34" charset="0"/>
                <a:ea typeface="Calibri" pitchFamily="34" charset="-122"/>
                <a:cs typeface="Calibri" pitchFamily="34" charset="-120"/>
              </a:rPr>
              <a:t>OPPORTUNITIES</a:t>
            </a:r>
            <a:endParaRPr lang="en-US" sz="1100" dirty="0"/>
          </a:p>
        </p:txBody>
      </p:sp>
      <p:sp>
        <p:nvSpPr>
          <p:cNvPr id="31" name="Text 28"/>
          <p:cNvSpPr txBox="1"/>
          <p:nvPr/>
        </p:nvSpPr>
        <p:spPr>
          <a:xfrm>
            <a:off x="521208"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Circular-economy innovation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Higher reuse and repair</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Digital waste tracking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Knowledge transfer to Asian cities</a:t>
            </a:r>
            <a:endParaRPr lang="en-US" sz="900" dirty="0"/>
          </a:p>
        </p:txBody>
      </p:sp>
      <p:sp>
        <p:nvSpPr>
          <p:cNvPr id="32" name="Shape 29"/>
          <p:cNvSpPr/>
          <p:nvPr/>
        </p:nvSpPr>
        <p:spPr>
          <a:xfrm>
            <a:off x="3264408" y="5404104"/>
            <a:ext cx="2761488" cy="996696"/>
          </a:xfrm>
          <a:prstGeom prst="rect">
            <a:avLst/>
          </a:prstGeom>
          <a:solidFill>
            <a:srgbClr val="F8E1DE"/>
          </a:solidFill>
          <a:ln w="12700">
            <a:solidFill>
              <a:srgbClr val="F8E1DE"/>
            </a:solidFill>
            <a:prstDash val="solid"/>
          </a:ln>
        </p:spPr>
      </p:sp>
      <p:sp>
        <p:nvSpPr>
          <p:cNvPr id="33" name="Text 30"/>
          <p:cNvSpPr txBox="1"/>
          <p:nvPr/>
        </p:nvSpPr>
        <p:spPr>
          <a:xfrm>
            <a:off x="3374136" y="5458968"/>
            <a:ext cx="2542032" cy="256032"/>
          </a:xfrm>
          <a:prstGeom prst="rect">
            <a:avLst/>
          </a:prstGeom>
          <a:noFill/>
          <a:ln/>
        </p:spPr>
        <p:txBody>
          <a:bodyPr wrap="square" lIns="0" tIns="0" rIns="0" bIns="0" rtlCol="0" anchor="ctr"/>
          <a:lstStyle/>
          <a:p>
            <a:pPr indent="0" marL="0">
              <a:buNone/>
            </a:pPr>
            <a:r>
              <a:rPr lang="en-US" sz="1100" b="1" dirty="0">
                <a:solidFill>
                  <a:srgbClr val="A23B2A"/>
                </a:solidFill>
                <a:latin typeface="Calibri" pitchFamily="34" charset="0"/>
                <a:ea typeface="Calibri" pitchFamily="34" charset="-122"/>
                <a:cs typeface="Calibri" pitchFamily="34" charset="-120"/>
              </a:rPr>
              <a:t>THREATS</a:t>
            </a:r>
            <a:endParaRPr lang="en-US" sz="1100" dirty="0"/>
          </a:p>
        </p:txBody>
      </p:sp>
      <p:sp>
        <p:nvSpPr>
          <p:cNvPr id="34" name="Text 31"/>
          <p:cNvSpPr txBox="1"/>
          <p:nvPr/>
        </p:nvSpPr>
        <p:spPr>
          <a:xfrm>
            <a:off x="3374136"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Ageing population and changing consumption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Rising treatment costs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Resource and energy demand of infrastructure</a:t>
            </a:r>
            <a:endParaRPr lang="en-US" sz="900" dirty="0"/>
          </a:p>
        </p:txBody>
      </p:sp>
      <p:sp>
        <p:nvSpPr>
          <p:cNvPr id="35" name="Shape 32"/>
          <p:cNvSpPr/>
          <p:nvPr/>
        </p:nvSpPr>
        <p:spPr>
          <a:xfrm>
            <a:off x="6263640" y="4315968"/>
            <a:ext cx="3291840" cy="2084832"/>
          </a:xfrm>
          <a:prstGeom prst="rect">
            <a:avLst/>
          </a:prstGeom>
          <a:solidFill>
            <a:srgbClr val="F1F7F2"/>
          </a:solidFill>
          <a:ln w="12700">
            <a:solidFill>
              <a:srgbClr val="F1F7F2"/>
            </a:solidFill>
            <a:prstDash val="solid"/>
          </a:ln>
        </p:spPr>
      </p:sp>
      <p:sp>
        <p:nvSpPr>
          <p:cNvPr id="36" name="Text 33"/>
          <p:cNvSpPr txBox="1"/>
          <p:nvPr/>
        </p:nvSpPr>
        <p:spPr>
          <a:xfrm>
            <a:off x="6373368" y="4370832"/>
            <a:ext cx="307238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Recommendations</a:t>
            </a:r>
            <a:endParaRPr lang="en-US" sz="1100" dirty="0"/>
          </a:p>
        </p:txBody>
      </p:sp>
      <p:sp>
        <p:nvSpPr>
          <p:cNvPr id="37" name="Text 34"/>
          <p:cNvSpPr txBox="1"/>
          <p:nvPr/>
        </p:nvSpPr>
        <p:spPr>
          <a:xfrm>
            <a:off x="6373368" y="4663440"/>
            <a:ext cx="3090672" cy="1682496"/>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Simpler, consistent segregation rules at ward/city level</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Digital dashboards: collection, processing, rejects, landfill diversion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Stronger producer take-back for difficult streams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Pay-as-you-throw only where enforcement capacity exists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Measure reduction, reuse, recycling, disposal separately</a:t>
            </a:r>
            <a:endParaRPr lang="en-US" sz="1000" dirty="0"/>
          </a:p>
        </p:txBody>
      </p:sp>
      <p:sp>
        <p:nvSpPr>
          <p:cNvPr id="38" name="Shape 35"/>
          <p:cNvSpPr/>
          <p:nvPr/>
        </p:nvSpPr>
        <p:spPr>
          <a:xfrm>
            <a:off x="9692640" y="4315968"/>
            <a:ext cx="2084832" cy="2084832"/>
          </a:xfrm>
          <a:prstGeom prst="rect">
            <a:avLst/>
          </a:prstGeom>
          <a:solidFill>
            <a:srgbClr val="1B4332"/>
          </a:solidFill>
          <a:ln w="12700">
            <a:solidFill>
              <a:srgbClr val="1B4332"/>
            </a:solidFill>
            <a:prstDash val="solid"/>
          </a:ln>
        </p:spPr>
      </p:sp>
      <p:sp>
        <p:nvSpPr>
          <p:cNvPr id="39" name="Text 36"/>
          <p:cNvSpPr txBox="1"/>
          <p:nvPr/>
        </p:nvSpPr>
        <p:spPr>
          <a:xfrm>
            <a:off x="9802368" y="4370832"/>
            <a:ext cx="1865376" cy="256032"/>
          </a:xfrm>
          <a:prstGeom prst="rect">
            <a:avLst/>
          </a:prstGeom>
          <a:noFill/>
          <a:ln/>
        </p:spPr>
        <p:txBody>
          <a:bodyPr wrap="square" lIns="0" tIns="0" rIns="0" bIns="0" rtlCol="0" anchor="ctr"/>
          <a:lstStyle/>
          <a:p>
            <a:pPr indent="0" marL="0">
              <a:buNone/>
            </a:pPr>
            <a:r>
              <a:rPr lang="en-US" sz="1100" b="1" dirty="0">
                <a:solidFill>
                  <a:srgbClr val="F4C95D"/>
                </a:solidFill>
                <a:latin typeface="Calibri" pitchFamily="34" charset="0"/>
                <a:ea typeface="Calibri" pitchFamily="34" charset="-122"/>
                <a:cs typeface="Calibri" pitchFamily="34" charset="-120"/>
              </a:rPr>
              <a:t>Conclusion</a:t>
            </a:r>
            <a:endParaRPr lang="en-US" sz="1100" dirty="0"/>
          </a:p>
        </p:txBody>
      </p:sp>
      <p:sp>
        <p:nvSpPr>
          <p:cNvPr id="40" name="Text 37"/>
          <p:cNvSpPr txBox="1"/>
          <p:nvPr/>
        </p:nvSpPr>
        <p:spPr>
          <a:xfrm>
            <a:off x="9802368" y="4663440"/>
            <a:ext cx="1883664" cy="168249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Waste performance depends on an integrated system: policy, municipal operations, public behaviour, producer responsibility and treatment infrastructure. India can borrow the system logic while adapting technology and enforcement to local conditions.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7589520" cy="777240"/>
          </a:xfrm>
          <a:prstGeom prst="rect">
            <a:avLst/>
          </a:prstGeom>
          <a:noFill/>
          <a:ln/>
        </p:spPr>
        <p:txBody>
          <a:bodyPr wrap="square" lIns="0" tIns="0" rIns="0" bIns="0" rtlCol="0" anchor="ctr"/>
          <a:lstStyle/>
          <a:p>
            <a:pPr indent="0" marL="0">
              <a:buNone/>
            </a:pPr>
            <a:r>
              <a:rPr lang="en-US" sz="2200" b="1" dirty="0">
                <a:solidFill>
                  <a:srgbClr val="1B4332"/>
                </a:solidFill>
                <a:latin typeface="Cambria" pitchFamily="34" charset="0"/>
                <a:ea typeface="Cambria" pitchFamily="34" charset="-122"/>
                <a:cs typeface="Cambria" pitchFamily="34" charset="-120"/>
              </a:rPr>
              <a:t>Switzerland's E-Waste Success Story</a:t>
            </a:r>
            <a:endParaRPr lang="en-US" sz="2200" dirty="0"/>
          </a:p>
        </p:txBody>
      </p:sp>
      <p:sp>
        <p:nvSpPr>
          <p:cNvPr id="3" name="Shape 1"/>
          <p:cNvSpPr/>
          <p:nvPr/>
        </p:nvSpPr>
        <p:spPr>
          <a:xfrm>
            <a:off x="8183880" y="256032"/>
            <a:ext cx="1737360" cy="777240"/>
          </a:xfrm>
          <a:prstGeom prst="rect">
            <a:avLst/>
          </a:prstGeom>
          <a:solidFill>
            <a:srgbClr val="1B4332"/>
          </a:solidFill>
          <a:ln w="12700">
            <a:solidFill>
              <a:srgbClr val="1B4332"/>
            </a:solidFill>
            <a:prstDash val="solid"/>
          </a:ln>
        </p:spPr>
      </p:sp>
      <p:sp>
        <p:nvSpPr>
          <p:cNvPr id="4" name="Text 2"/>
          <p:cNvSpPr txBox="1"/>
          <p:nvPr/>
        </p:nvSpPr>
        <p:spPr>
          <a:xfrm>
            <a:off x="82296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104,751 t</a:t>
            </a:r>
            <a:endParaRPr lang="en-US" sz="2000" dirty="0"/>
          </a:p>
        </p:txBody>
      </p:sp>
      <p:sp>
        <p:nvSpPr>
          <p:cNvPr id="5" name="Text 3"/>
          <p:cNvSpPr txBox="1"/>
          <p:nvPr/>
        </p:nvSpPr>
        <p:spPr>
          <a:xfrm>
            <a:off x="82296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SENS volume, 2025</a:t>
            </a:r>
            <a:endParaRPr lang="en-US" sz="850" dirty="0"/>
          </a:p>
        </p:txBody>
      </p:sp>
      <p:sp>
        <p:nvSpPr>
          <p:cNvPr id="6" name="Shape 4"/>
          <p:cNvSpPr/>
          <p:nvPr/>
        </p:nvSpPr>
        <p:spPr>
          <a:xfrm>
            <a:off x="10012680" y="256032"/>
            <a:ext cx="1737360" cy="777240"/>
          </a:xfrm>
          <a:prstGeom prst="rect">
            <a:avLst/>
          </a:prstGeom>
          <a:solidFill>
            <a:srgbClr val="1B4332"/>
          </a:solidFill>
          <a:ln w="12700">
            <a:solidFill>
              <a:srgbClr val="1B4332"/>
            </a:solidFill>
            <a:prstDash val="solid"/>
          </a:ln>
        </p:spPr>
      </p:sp>
      <p:sp>
        <p:nvSpPr>
          <p:cNvPr id="7" name="Text 5"/>
          <p:cNvSpPr txBox="1"/>
          <p:nvPr/>
        </p:nvSpPr>
        <p:spPr>
          <a:xfrm>
            <a:off x="100584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11.48 kg</a:t>
            </a:r>
            <a:endParaRPr lang="en-US" sz="2000" dirty="0"/>
          </a:p>
        </p:txBody>
      </p:sp>
      <p:sp>
        <p:nvSpPr>
          <p:cNvPr id="8" name="Text 6"/>
          <p:cNvSpPr txBox="1"/>
          <p:nvPr/>
        </p:nvSpPr>
        <p:spPr>
          <a:xfrm>
            <a:off x="100584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per person (SENS)</a:t>
            </a:r>
            <a:endParaRPr lang="en-US" sz="850" dirty="0"/>
          </a:p>
        </p:txBody>
      </p:sp>
      <p:sp>
        <p:nvSpPr>
          <p:cNvPr id="9" name="Shape 7"/>
          <p:cNvSpPr/>
          <p:nvPr/>
        </p:nvSpPr>
        <p:spPr>
          <a:xfrm>
            <a:off x="411480" y="1143000"/>
            <a:ext cx="11365992" cy="731520"/>
          </a:xfrm>
          <a:prstGeom prst="rect">
            <a:avLst/>
          </a:prstGeom>
          <a:solidFill>
            <a:srgbClr val="F1F7F2"/>
          </a:solidFill>
          <a:ln w="12700">
            <a:solidFill>
              <a:srgbClr val="F1F7F2"/>
            </a:solidFill>
            <a:prstDash val="solid"/>
          </a:ln>
        </p:spPr>
      </p:sp>
      <p:sp>
        <p:nvSpPr>
          <p:cNvPr id="10" name="Text 8"/>
          <p:cNvSpPr txBox="1"/>
          <p:nvPr/>
        </p:nvSpPr>
        <p:spPr>
          <a:xfrm>
            <a:off x="521208" y="1161288"/>
            <a:ext cx="11155680" cy="694944"/>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Executive Summary  </a:t>
            </a:r>
            <a:pPr indent="0" marL="0">
              <a:buNone/>
            </a:pPr>
            <a:r>
              <a:rPr lang="en-US" sz="1000" dirty="0">
                <a:solidFill>
                  <a:srgbClr val="1F2933"/>
                </a:solidFill>
                <a:latin typeface="Calibri" pitchFamily="34" charset="0"/>
                <a:ea typeface="Calibri" pitchFamily="34" charset="-122"/>
                <a:cs typeface="Calibri" pitchFamily="34" charset="-120"/>
              </a:rPr>
              <a:t>Switzerland combines mandatory take-back with industry-operated, non-profit recycling systems financed by an advance recycling contribution. Consumers return equipment through retailers or collection points with no separate disposal charge at return, making the financing of collection, logistics and recycling visible and predictable.</a:t>
            </a:r>
            <a:endParaRPr lang="en-US" sz="1100" dirty="0"/>
          </a:p>
        </p:txBody>
      </p:sp>
      <p:sp>
        <p:nvSpPr>
          <p:cNvPr id="11" name="Shape 9"/>
          <p:cNvSpPr/>
          <p:nvPr/>
        </p:nvSpPr>
        <p:spPr>
          <a:xfrm>
            <a:off x="411480" y="1965960"/>
            <a:ext cx="2697480" cy="2240280"/>
          </a:xfrm>
          <a:prstGeom prst="rect">
            <a:avLst/>
          </a:prstGeom>
          <a:solidFill>
            <a:srgbClr val="F1F7F2"/>
          </a:solidFill>
          <a:ln w="12700">
            <a:solidFill>
              <a:srgbClr val="F1F7F2"/>
            </a:solidFill>
            <a:prstDash val="solid"/>
          </a:ln>
        </p:spPr>
      </p:sp>
      <p:sp>
        <p:nvSpPr>
          <p:cNvPr id="12" name="Text 10"/>
          <p:cNvSpPr txBox="1"/>
          <p:nvPr/>
        </p:nvSpPr>
        <p:spPr>
          <a:xfrm>
            <a:off x="52120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Background</a:t>
            </a:r>
            <a:endParaRPr lang="en-US" sz="1100" dirty="0"/>
          </a:p>
        </p:txBody>
      </p:sp>
      <p:sp>
        <p:nvSpPr>
          <p:cNvPr id="13" name="Text 11"/>
          <p:cNvSpPr txBox="1"/>
          <p:nvPr/>
        </p:nvSpPr>
        <p:spPr>
          <a:xfrm>
            <a:off x="52120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Retailers, manufacturers and importers must accept used equipment free of charge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Consumers return equipment through take-back, not household waste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Two industry systems: SENS eRecycling and Swico Recycling</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Advance recycling contributions are built into product prices and earmarked for end-of-life</a:t>
            </a:r>
            <a:endParaRPr lang="en-US" sz="1000" dirty="0"/>
          </a:p>
        </p:txBody>
      </p:sp>
      <p:sp>
        <p:nvSpPr>
          <p:cNvPr id="14" name="Shape 12"/>
          <p:cNvSpPr/>
          <p:nvPr/>
        </p:nvSpPr>
        <p:spPr>
          <a:xfrm>
            <a:off x="3291840" y="1965960"/>
            <a:ext cx="2697480" cy="2240280"/>
          </a:xfrm>
          <a:prstGeom prst="rect">
            <a:avLst/>
          </a:prstGeom>
          <a:solidFill>
            <a:srgbClr val="F1F7F2"/>
          </a:solidFill>
          <a:ln w="12700">
            <a:solidFill>
              <a:srgbClr val="F1F7F2"/>
            </a:solidFill>
            <a:prstDash val="solid"/>
          </a:ln>
        </p:spPr>
      </p:sp>
      <p:sp>
        <p:nvSpPr>
          <p:cNvPr id="15" name="Text 13"/>
          <p:cNvSpPr txBox="1"/>
          <p:nvPr/>
        </p:nvSpPr>
        <p:spPr>
          <a:xfrm>
            <a:off x="340156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Strategy / Initiative</a:t>
            </a:r>
            <a:endParaRPr lang="en-US" sz="1100" dirty="0"/>
          </a:p>
        </p:txBody>
      </p:sp>
      <p:sp>
        <p:nvSpPr>
          <p:cNvPr id="16" name="Text 14"/>
          <p:cNvSpPr txBox="1"/>
          <p:nvPr/>
        </p:nvSpPr>
        <p:spPr>
          <a:xfrm>
            <a:off x="340156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Universal take-back via retailers and official collection points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Advance recycling contribution (ARC/ARF) funds collection, transport, processing, quality control</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Industry and government roles separate but coordinated</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Specialist recyclers recover metals, plastics, glass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Collection data tracked through organised networks</a:t>
            </a:r>
            <a:endParaRPr lang="en-US" sz="1000" dirty="0"/>
          </a:p>
        </p:txBody>
      </p:sp>
      <p:sp>
        <p:nvSpPr>
          <p:cNvPr id="17" name="Shape 15"/>
          <p:cNvSpPr/>
          <p:nvPr/>
        </p:nvSpPr>
        <p:spPr>
          <a:xfrm>
            <a:off x="6172200" y="1965960"/>
            <a:ext cx="2697480" cy="2240280"/>
          </a:xfrm>
          <a:prstGeom prst="rect">
            <a:avLst/>
          </a:prstGeom>
          <a:solidFill>
            <a:srgbClr val="F1F7F2"/>
          </a:solidFill>
          <a:ln w="12700">
            <a:solidFill>
              <a:srgbClr val="F1F7F2"/>
            </a:solidFill>
            <a:prstDash val="solid"/>
          </a:ln>
        </p:spPr>
      </p:sp>
      <p:sp>
        <p:nvSpPr>
          <p:cNvPr id="18" name="Text 16"/>
          <p:cNvSpPr txBox="1"/>
          <p:nvPr/>
        </p:nvSpPr>
        <p:spPr>
          <a:xfrm>
            <a:off x="628192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Impact &amp; Results</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81928" y="2331720"/>
          <a:ext cx="2478024" cy="914400"/>
        </p:xfrm>
        <a:graphic>
          <a:graphicData uri="http://schemas.openxmlformats.org/drawingml/2006/table">
            <a:tbl>
              <a:tblPr/>
              <a:tblGrid>
                <a:gridCol w="1371600"/>
                <a:gridCol w="1106424"/>
              </a:tblGrid>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SENS volume, 2025</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104,751 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SENS per person</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11.48 kg</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SENS collection points</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630</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Swico volume</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~40,000 t/yr</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Swico collection points</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SENS material recovery</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~75% on average</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bl>
          </a:graphicData>
        </a:graphic>
      </p:graphicFrame>
      <p:sp>
        <p:nvSpPr>
          <p:cNvPr id="20" name="Shape 17"/>
          <p:cNvSpPr/>
          <p:nvPr/>
        </p:nvSpPr>
        <p:spPr>
          <a:xfrm>
            <a:off x="9052560" y="1965960"/>
            <a:ext cx="2697480" cy="2240280"/>
          </a:xfrm>
          <a:prstGeom prst="rect">
            <a:avLst/>
          </a:prstGeom>
          <a:solidFill>
            <a:srgbClr val="F1F7F2"/>
          </a:solidFill>
          <a:ln w="12700">
            <a:solidFill>
              <a:srgbClr val="F1F7F2"/>
            </a:solidFill>
            <a:prstDash val="solid"/>
          </a:ln>
        </p:spPr>
      </p:sp>
      <p:sp>
        <p:nvSpPr>
          <p:cNvPr id="21" name="Text 18"/>
          <p:cNvSpPr txBox="1"/>
          <p:nvPr/>
        </p:nvSpPr>
        <p:spPr>
          <a:xfrm>
            <a:off x="916228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Comparison with India</a:t>
            </a:r>
            <a:endParaRPr lang="en-US" sz="1100" dirty="0"/>
          </a:p>
        </p:txBody>
      </p:sp>
      <p:sp>
        <p:nvSpPr>
          <p:cNvPr id="22" name="Text 19"/>
          <p:cNvSpPr txBox="1"/>
          <p:nvPr/>
        </p:nvSpPr>
        <p:spPr>
          <a:xfrm>
            <a:off x="916228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India's 2022 Rules use producer EPR: registration, recycling obligations, EPR certificates; Switzerland offers stable financing and convenient take-back</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India's EPR portal is digital and formalising, but consumer access to collection is uneven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India could pair EPR certificates with stronger retail take-back and clear consumer networks</a:t>
            </a:r>
            <a:endParaRPr lang="en-US" sz="1000" dirty="0"/>
          </a:p>
        </p:txBody>
      </p:sp>
      <p:sp>
        <p:nvSpPr>
          <p:cNvPr id="23" name="Shape 20"/>
          <p:cNvSpPr/>
          <p:nvPr/>
        </p:nvSpPr>
        <p:spPr>
          <a:xfrm>
            <a:off x="411480" y="4315968"/>
            <a:ext cx="2761488" cy="996696"/>
          </a:xfrm>
          <a:prstGeom prst="rect">
            <a:avLst/>
          </a:prstGeom>
          <a:solidFill>
            <a:srgbClr val="E3F1E6"/>
          </a:solidFill>
          <a:ln w="12700">
            <a:solidFill>
              <a:srgbClr val="E3F1E6"/>
            </a:solidFill>
            <a:prstDash val="solid"/>
          </a:ln>
        </p:spPr>
      </p:sp>
      <p:sp>
        <p:nvSpPr>
          <p:cNvPr id="24" name="Text 21"/>
          <p:cNvSpPr txBox="1"/>
          <p:nvPr/>
        </p:nvSpPr>
        <p:spPr>
          <a:xfrm>
            <a:off x="521208" y="4370832"/>
            <a:ext cx="2542032"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25" name="Text 22"/>
          <p:cNvSpPr txBox="1"/>
          <p:nvPr/>
        </p:nvSpPr>
        <p:spPr>
          <a:xfrm>
            <a:off x="521208"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Convenient take-back network</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Stable advance-fee financing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Industry participation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Specialist recyclers</a:t>
            </a:r>
            <a:endParaRPr lang="en-US" sz="900" dirty="0"/>
          </a:p>
        </p:txBody>
      </p:sp>
      <p:sp>
        <p:nvSpPr>
          <p:cNvPr id="26" name="Shape 23"/>
          <p:cNvSpPr/>
          <p:nvPr/>
        </p:nvSpPr>
        <p:spPr>
          <a:xfrm>
            <a:off x="3264408" y="4315968"/>
            <a:ext cx="2761488" cy="996696"/>
          </a:xfrm>
          <a:prstGeom prst="rect">
            <a:avLst/>
          </a:prstGeom>
          <a:solidFill>
            <a:srgbClr val="FCEFD9"/>
          </a:solidFill>
          <a:ln w="12700">
            <a:solidFill>
              <a:srgbClr val="FCEFD9"/>
            </a:solidFill>
            <a:prstDash val="solid"/>
          </a:ln>
        </p:spPr>
      </p:sp>
      <p:sp>
        <p:nvSpPr>
          <p:cNvPr id="27" name="Text 24"/>
          <p:cNvSpPr txBox="1"/>
          <p:nvPr/>
        </p:nvSpPr>
        <p:spPr>
          <a:xfrm>
            <a:off x="3374136" y="4370832"/>
            <a:ext cx="2542032" cy="256032"/>
          </a:xfrm>
          <a:prstGeom prst="rect">
            <a:avLst/>
          </a:prstGeom>
          <a:noFill/>
          <a:ln/>
        </p:spPr>
        <p:txBody>
          <a:bodyPr wrap="square" lIns="0" tIns="0" rIns="0" bIns="0" rtlCol="0" anchor="ctr"/>
          <a:lstStyle/>
          <a:p>
            <a:pPr indent="0" marL="0">
              <a:buNone/>
            </a:pPr>
            <a:r>
              <a:rPr lang="en-US" sz="1100" b="1" dirty="0">
                <a:solidFill>
                  <a:srgbClr val="8A5300"/>
                </a:solidFill>
                <a:latin typeface="Calibri" pitchFamily="34" charset="0"/>
                <a:ea typeface="Calibri" pitchFamily="34" charset="-122"/>
                <a:cs typeface="Calibri" pitchFamily="34" charset="-120"/>
              </a:rPr>
              <a:t>WEAKNESSES</a:t>
            </a:r>
            <a:endParaRPr lang="en-US" sz="1100" dirty="0"/>
          </a:p>
        </p:txBody>
      </p:sp>
      <p:sp>
        <p:nvSpPr>
          <p:cNvPr id="28" name="Text 25"/>
          <p:cNvSpPr txBox="1"/>
          <p:nvPr/>
        </p:nvSpPr>
        <p:spPr>
          <a:xfrm>
            <a:off x="3374136"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System costs embedded in product prices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Complex devices raise processing cost</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High-income model may not transfer directly</a:t>
            </a:r>
            <a:endParaRPr lang="en-US" sz="900" dirty="0"/>
          </a:p>
        </p:txBody>
      </p:sp>
      <p:sp>
        <p:nvSpPr>
          <p:cNvPr id="29" name="Shape 26"/>
          <p:cNvSpPr/>
          <p:nvPr/>
        </p:nvSpPr>
        <p:spPr>
          <a:xfrm>
            <a:off x="411480" y="5404104"/>
            <a:ext cx="2761488" cy="996696"/>
          </a:xfrm>
          <a:prstGeom prst="rect">
            <a:avLst/>
          </a:prstGeom>
          <a:solidFill>
            <a:srgbClr val="DDEFF3"/>
          </a:solidFill>
          <a:ln w="12700">
            <a:solidFill>
              <a:srgbClr val="DDEFF3"/>
            </a:solidFill>
            <a:prstDash val="solid"/>
          </a:ln>
        </p:spPr>
      </p:sp>
      <p:sp>
        <p:nvSpPr>
          <p:cNvPr id="30" name="Text 27"/>
          <p:cNvSpPr txBox="1"/>
          <p:nvPr/>
        </p:nvSpPr>
        <p:spPr>
          <a:xfrm>
            <a:off x="521208" y="5458968"/>
            <a:ext cx="2542032" cy="256032"/>
          </a:xfrm>
          <a:prstGeom prst="rect">
            <a:avLst/>
          </a:prstGeom>
          <a:noFill/>
          <a:ln/>
        </p:spPr>
        <p:txBody>
          <a:bodyPr wrap="square" lIns="0" tIns="0" rIns="0" bIns="0" rtlCol="0" anchor="ctr"/>
          <a:lstStyle/>
          <a:p>
            <a:pPr indent="0" marL="0">
              <a:buNone/>
            </a:pPr>
            <a:r>
              <a:rPr lang="en-US" sz="1100" b="1" dirty="0">
                <a:solidFill>
                  <a:srgbClr val="1F6F8B"/>
                </a:solidFill>
                <a:latin typeface="Calibri" pitchFamily="34" charset="0"/>
                <a:ea typeface="Calibri" pitchFamily="34" charset="-122"/>
                <a:cs typeface="Calibri" pitchFamily="34" charset="-120"/>
              </a:rPr>
              <a:t>OPPORTUNITIES</a:t>
            </a:r>
            <a:endParaRPr lang="en-US" sz="1100" dirty="0"/>
          </a:p>
        </p:txBody>
      </p:sp>
      <p:sp>
        <p:nvSpPr>
          <p:cNvPr id="31" name="Text 28"/>
          <p:cNvSpPr txBox="1"/>
          <p:nvPr/>
        </p:nvSpPr>
        <p:spPr>
          <a:xfrm>
            <a:off x="521208"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Digital traceability</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Urban retail collection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Higher recovery of critical materials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Repair/refurbishment integration</a:t>
            </a:r>
            <a:endParaRPr lang="en-US" sz="900" dirty="0"/>
          </a:p>
        </p:txBody>
      </p:sp>
      <p:sp>
        <p:nvSpPr>
          <p:cNvPr id="32" name="Shape 29"/>
          <p:cNvSpPr/>
          <p:nvPr/>
        </p:nvSpPr>
        <p:spPr>
          <a:xfrm>
            <a:off x="3264408" y="5404104"/>
            <a:ext cx="2761488" cy="996696"/>
          </a:xfrm>
          <a:prstGeom prst="rect">
            <a:avLst/>
          </a:prstGeom>
          <a:solidFill>
            <a:srgbClr val="F8E1DE"/>
          </a:solidFill>
          <a:ln w="12700">
            <a:solidFill>
              <a:srgbClr val="F8E1DE"/>
            </a:solidFill>
            <a:prstDash val="solid"/>
          </a:ln>
        </p:spPr>
      </p:sp>
      <p:sp>
        <p:nvSpPr>
          <p:cNvPr id="33" name="Text 30"/>
          <p:cNvSpPr txBox="1"/>
          <p:nvPr/>
        </p:nvSpPr>
        <p:spPr>
          <a:xfrm>
            <a:off x="3374136" y="5458968"/>
            <a:ext cx="2542032" cy="256032"/>
          </a:xfrm>
          <a:prstGeom prst="rect">
            <a:avLst/>
          </a:prstGeom>
          <a:noFill/>
          <a:ln/>
        </p:spPr>
        <p:txBody>
          <a:bodyPr wrap="square" lIns="0" tIns="0" rIns="0" bIns="0" rtlCol="0" anchor="ctr"/>
          <a:lstStyle/>
          <a:p>
            <a:pPr indent="0" marL="0">
              <a:buNone/>
            </a:pPr>
            <a:r>
              <a:rPr lang="en-US" sz="1100" b="1" dirty="0">
                <a:solidFill>
                  <a:srgbClr val="A23B2A"/>
                </a:solidFill>
                <a:latin typeface="Calibri" pitchFamily="34" charset="0"/>
                <a:ea typeface="Calibri" pitchFamily="34" charset="-122"/>
                <a:cs typeface="Calibri" pitchFamily="34" charset="-120"/>
              </a:rPr>
              <a:t>THREATS</a:t>
            </a:r>
            <a:endParaRPr lang="en-US" sz="1100" dirty="0"/>
          </a:p>
        </p:txBody>
      </p:sp>
      <p:sp>
        <p:nvSpPr>
          <p:cNvPr id="34" name="Text 31"/>
          <p:cNvSpPr txBox="1"/>
          <p:nvPr/>
        </p:nvSpPr>
        <p:spPr>
          <a:xfrm>
            <a:off x="3374136"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Rising lithium-battery risks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Falling value of recovered materials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Rapid device turnover</a:t>
            </a:r>
            <a:endParaRPr lang="en-US" sz="900" dirty="0"/>
          </a:p>
        </p:txBody>
      </p:sp>
      <p:sp>
        <p:nvSpPr>
          <p:cNvPr id="35" name="Shape 32"/>
          <p:cNvSpPr/>
          <p:nvPr/>
        </p:nvSpPr>
        <p:spPr>
          <a:xfrm>
            <a:off x="6263640" y="4315968"/>
            <a:ext cx="3291840" cy="2084832"/>
          </a:xfrm>
          <a:prstGeom prst="rect">
            <a:avLst/>
          </a:prstGeom>
          <a:solidFill>
            <a:srgbClr val="F1F7F2"/>
          </a:solidFill>
          <a:ln w="12700">
            <a:solidFill>
              <a:srgbClr val="F1F7F2"/>
            </a:solidFill>
            <a:prstDash val="solid"/>
          </a:ln>
        </p:spPr>
      </p:sp>
      <p:sp>
        <p:nvSpPr>
          <p:cNvPr id="36" name="Text 33"/>
          <p:cNvSpPr txBox="1"/>
          <p:nvPr/>
        </p:nvSpPr>
        <p:spPr>
          <a:xfrm>
            <a:off x="6373368" y="4370832"/>
            <a:ext cx="307238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Recommendations</a:t>
            </a:r>
            <a:endParaRPr lang="en-US" sz="1100" dirty="0"/>
          </a:p>
        </p:txBody>
      </p:sp>
      <p:sp>
        <p:nvSpPr>
          <p:cNvPr id="37" name="Text 34"/>
          <p:cNvSpPr txBox="1"/>
          <p:nvPr/>
        </p:nvSpPr>
        <p:spPr>
          <a:xfrm>
            <a:off x="6373368" y="4663440"/>
            <a:ext cx="3090672" cy="1682496"/>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More visible return points at retailers and service centres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Standard consumer message: 'buy → use → return'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Ring-fence or transparently account for EPR/advance funds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Track collection by product category and city</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Improve data-security assurance for returned devices</a:t>
            </a:r>
            <a:endParaRPr lang="en-US" sz="1000" dirty="0"/>
          </a:p>
        </p:txBody>
      </p:sp>
      <p:sp>
        <p:nvSpPr>
          <p:cNvPr id="38" name="Shape 35"/>
          <p:cNvSpPr/>
          <p:nvPr/>
        </p:nvSpPr>
        <p:spPr>
          <a:xfrm>
            <a:off x="9692640" y="4315968"/>
            <a:ext cx="2084832" cy="2084832"/>
          </a:xfrm>
          <a:prstGeom prst="rect">
            <a:avLst/>
          </a:prstGeom>
          <a:solidFill>
            <a:srgbClr val="1B4332"/>
          </a:solidFill>
          <a:ln w="12700">
            <a:solidFill>
              <a:srgbClr val="1B4332"/>
            </a:solidFill>
            <a:prstDash val="solid"/>
          </a:ln>
        </p:spPr>
      </p:sp>
      <p:sp>
        <p:nvSpPr>
          <p:cNvPr id="39" name="Text 36"/>
          <p:cNvSpPr txBox="1"/>
          <p:nvPr/>
        </p:nvSpPr>
        <p:spPr>
          <a:xfrm>
            <a:off x="9802368" y="4370832"/>
            <a:ext cx="1865376" cy="256032"/>
          </a:xfrm>
          <a:prstGeom prst="rect">
            <a:avLst/>
          </a:prstGeom>
          <a:noFill/>
          <a:ln/>
        </p:spPr>
        <p:txBody>
          <a:bodyPr wrap="square" lIns="0" tIns="0" rIns="0" bIns="0" rtlCol="0" anchor="ctr"/>
          <a:lstStyle/>
          <a:p>
            <a:pPr indent="0" marL="0">
              <a:buNone/>
            </a:pPr>
            <a:r>
              <a:rPr lang="en-US" sz="1100" b="1" dirty="0">
                <a:solidFill>
                  <a:srgbClr val="F4C95D"/>
                </a:solidFill>
                <a:latin typeface="Calibri" pitchFamily="34" charset="0"/>
                <a:ea typeface="Calibri" pitchFamily="34" charset="-122"/>
                <a:cs typeface="Calibri" pitchFamily="34" charset="-120"/>
              </a:rPr>
              <a:t>Conclusion</a:t>
            </a:r>
            <a:endParaRPr lang="en-US" sz="1100" dirty="0"/>
          </a:p>
        </p:txBody>
      </p:sp>
      <p:sp>
        <p:nvSpPr>
          <p:cNvPr id="40" name="Text 37"/>
          <p:cNvSpPr txBox="1"/>
          <p:nvPr/>
        </p:nvSpPr>
        <p:spPr>
          <a:xfrm>
            <a:off x="9802368" y="4663440"/>
            <a:ext cx="1883664" cy="168249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Switzerland's success rests on convenience, financing and accountability. The lesson for India: make the correct disposal route easy for consumers, and ensure money follows the product to its end-of-life treatment.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7589520" cy="777240"/>
          </a:xfrm>
          <a:prstGeom prst="rect">
            <a:avLst/>
          </a:prstGeom>
          <a:noFill/>
          <a:ln/>
        </p:spPr>
        <p:txBody>
          <a:bodyPr wrap="square" lIns="0" tIns="0" rIns="0" bIns="0" rtlCol="0" anchor="ctr"/>
          <a:lstStyle/>
          <a:p>
            <a:pPr indent="0" marL="0">
              <a:buNone/>
            </a:pPr>
            <a:r>
              <a:rPr lang="en-US" sz="2200" b="1" dirty="0">
                <a:solidFill>
                  <a:srgbClr val="1B4332"/>
                </a:solidFill>
                <a:latin typeface="Cambria" pitchFamily="34" charset="0"/>
                <a:ea typeface="Cambria" pitchFamily="34" charset="-122"/>
                <a:cs typeface="Cambria" pitchFamily="34" charset="-120"/>
              </a:rPr>
              <a:t>India's E-Waste Management Rules 2022</a:t>
            </a:r>
            <a:endParaRPr lang="en-US" sz="2200" dirty="0"/>
          </a:p>
        </p:txBody>
      </p:sp>
      <p:sp>
        <p:nvSpPr>
          <p:cNvPr id="3" name="Shape 1"/>
          <p:cNvSpPr/>
          <p:nvPr/>
        </p:nvSpPr>
        <p:spPr>
          <a:xfrm>
            <a:off x="8183880" y="256032"/>
            <a:ext cx="1737360" cy="777240"/>
          </a:xfrm>
          <a:prstGeom prst="rect">
            <a:avLst/>
          </a:prstGeom>
          <a:solidFill>
            <a:srgbClr val="1B4332"/>
          </a:solidFill>
          <a:ln w="12700">
            <a:solidFill>
              <a:srgbClr val="1B4332"/>
            </a:solidFill>
            <a:prstDash val="solid"/>
          </a:ln>
        </p:spPr>
      </p:sp>
      <p:sp>
        <p:nvSpPr>
          <p:cNvPr id="4" name="Text 2"/>
          <p:cNvSpPr txBox="1"/>
          <p:nvPr/>
        </p:nvSpPr>
        <p:spPr>
          <a:xfrm>
            <a:off x="82296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70.71%</a:t>
            </a:r>
            <a:endParaRPr lang="en-US" sz="2000" dirty="0"/>
          </a:p>
        </p:txBody>
      </p:sp>
      <p:sp>
        <p:nvSpPr>
          <p:cNvPr id="5" name="Text 3"/>
          <p:cNvSpPr txBox="1"/>
          <p:nvPr/>
        </p:nvSpPr>
        <p:spPr>
          <a:xfrm>
            <a:off x="82296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reported handled, FY2024-25</a:t>
            </a:r>
            <a:endParaRPr lang="en-US" sz="850" dirty="0"/>
          </a:p>
        </p:txBody>
      </p:sp>
      <p:sp>
        <p:nvSpPr>
          <p:cNvPr id="6" name="Shape 4"/>
          <p:cNvSpPr/>
          <p:nvPr/>
        </p:nvSpPr>
        <p:spPr>
          <a:xfrm>
            <a:off x="10012680" y="256032"/>
            <a:ext cx="1737360" cy="777240"/>
          </a:xfrm>
          <a:prstGeom prst="rect">
            <a:avLst/>
          </a:prstGeom>
          <a:solidFill>
            <a:srgbClr val="1B4332"/>
          </a:solidFill>
          <a:ln w="12700">
            <a:solidFill>
              <a:srgbClr val="1B4332"/>
            </a:solidFill>
            <a:prstDash val="solid"/>
          </a:ln>
        </p:spPr>
      </p:sp>
      <p:sp>
        <p:nvSpPr>
          <p:cNvPr id="7" name="Text 5"/>
          <p:cNvSpPr txBox="1"/>
          <p:nvPr/>
        </p:nvSpPr>
        <p:spPr>
          <a:xfrm>
            <a:off x="10058400" y="283464"/>
            <a:ext cx="1645920" cy="384048"/>
          </a:xfrm>
          <a:prstGeom prst="rect">
            <a:avLst/>
          </a:prstGeom>
          <a:noFill/>
          <a:ln/>
        </p:spPr>
        <p:txBody>
          <a:bodyPr wrap="square" lIns="0" tIns="0" rIns="0" bIns="0" rtlCol="0" anchor="ctr"/>
          <a:lstStyle/>
          <a:p>
            <a:pPr algn="ctr" indent="0" marL="0">
              <a:buNone/>
            </a:pPr>
            <a:r>
              <a:rPr lang="en-US" sz="1500" b="1" dirty="0">
                <a:solidFill>
                  <a:srgbClr val="F4C95D"/>
                </a:solidFill>
                <a:latin typeface="Cambria" pitchFamily="34" charset="0"/>
                <a:ea typeface="Cambria" pitchFamily="34" charset="-122"/>
                <a:cs typeface="Cambria" pitchFamily="34" charset="-120"/>
              </a:rPr>
              <a:t>13.98 lakh MT</a:t>
            </a:r>
            <a:endParaRPr lang="en-US" sz="1500" dirty="0"/>
          </a:p>
        </p:txBody>
      </p:sp>
      <p:sp>
        <p:nvSpPr>
          <p:cNvPr id="8" name="Text 6"/>
          <p:cNvSpPr txBox="1"/>
          <p:nvPr/>
        </p:nvSpPr>
        <p:spPr>
          <a:xfrm>
            <a:off x="100584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e-waste generated, FY2024-25</a:t>
            </a:r>
            <a:endParaRPr lang="en-US" sz="850" dirty="0"/>
          </a:p>
        </p:txBody>
      </p:sp>
      <p:sp>
        <p:nvSpPr>
          <p:cNvPr id="9" name="Shape 7"/>
          <p:cNvSpPr/>
          <p:nvPr/>
        </p:nvSpPr>
        <p:spPr>
          <a:xfrm>
            <a:off x="411480" y="1143000"/>
            <a:ext cx="11365992" cy="731520"/>
          </a:xfrm>
          <a:prstGeom prst="rect">
            <a:avLst/>
          </a:prstGeom>
          <a:solidFill>
            <a:srgbClr val="F1F7F2"/>
          </a:solidFill>
          <a:ln w="12700">
            <a:solidFill>
              <a:srgbClr val="F1F7F2"/>
            </a:solidFill>
            <a:prstDash val="solid"/>
          </a:ln>
        </p:spPr>
      </p:sp>
      <p:sp>
        <p:nvSpPr>
          <p:cNvPr id="10" name="Text 8"/>
          <p:cNvSpPr txBox="1"/>
          <p:nvPr/>
        </p:nvSpPr>
        <p:spPr>
          <a:xfrm>
            <a:off x="521208" y="1161288"/>
            <a:ext cx="11155680" cy="694944"/>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Executive Summary  </a:t>
            </a:r>
            <a:pPr indent="0" marL="0">
              <a:buNone/>
            </a:pPr>
            <a:r>
              <a:rPr lang="en-US" sz="1000" dirty="0">
                <a:solidFill>
                  <a:srgbClr val="1F2933"/>
                </a:solidFill>
                <a:latin typeface="Calibri" pitchFamily="34" charset="0"/>
                <a:ea typeface="Calibri" pitchFamily="34" charset="-122"/>
                <a:cs typeface="Calibri" pitchFamily="34" charset="-120"/>
              </a:rPr>
              <a:t>Effective 1 April 2023, the Rules moved India to a portal-based EPR system. Producers, manufacturers, recyclers and refurbishers are registered; producers get recycling obligations; recyclers generate EPR certificates; compensation, returns and audits support enforcement — shifting from collection-oriented compliance to measurable recycling outcomes.</a:t>
            </a:r>
            <a:endParaRPr lang="en-US" sz="1100" dirty="0"/>
          </a:p>
        </p:txBody>
      </p:sp>
      <p:sp>
        <p:nvSpPr>
          <p:cNvPr id="11" name="Shape 9"/>
          <p:cNvSpPr/>
          <p:nvPr/>
        </p:nvSpPr>
        <p:spPr>
          <a:xfrm>
            <a:off x="411480" y="1965960"/>
            <a:ext cx="2697480" cy="2240280"/>
          </a:xfrm>
          <a:prstGeom prst="rect">
            <a:avLst/>
          </a:prstGeom>
          <a:solidFill>
            <a:srgbClr val="F1F7F2"/>
          </a:solidFill>
          <a:ln w="12700">
            <a:solidFill>
              <a:srgbClr val="F1F7F2"/>
            </a:solidFill>
            <a:prstDash val="solid"/>
          </a:ln>
        </p:spPr>
      </p:sp>
      <p:sp>
        <p:nvSpPr>
          <p:cNvPr id="12" name="Text 10"/>
          <p:cNvSpPr txBox="1"/>
          <p:nvPr/>
        </p:nvSpPr>
        <p:spPr>
          <a:xfrm>
            <a:off x="52120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Background</a:t>
            </a:r>
            <a:endParaRPr lang="en-US" sz="1100" dirty="0"/>
          </a:p>
        </p:txBody>
      </p:sp>
      <p:sp>
        <p:nvSpPr>
          <p:cNvPr id="13" name="Text 11"/>
          <p:cNvSpPr txBox="1"/>
          <p:nvPr/>
        </p:nvSpPr>
        <p:spPr>
          <a:xfrm>
            <a:off x="52120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Notified 2 Nov 2022; superseded the 2016 rules from 1 April 2023</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Covers 106 electrical/electronic items in seven categories (CPCB FAQ)</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Producer EPR obligations are linked to recycling, met via registered recyclers on the portal</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Supports refurbishment; environmental compensation for violations</a:t>
            </a:r>
            <a:endParaRPr lang="en-US" sz="1000" dirty="0"/>
          </a:p>
        </p:txBody>
      </p:sp>
      <p:sp>
        <p:nvSpPr>
          <p:cNvPr id="14" name="Shape 12"/>
          <p:cNvSpPr/>
          <p:nvPr/>
        </p:nvSpPr>
        <p:spPr>
          <a:xfrm>
            <a:off x="3291840" y="1965960"/>
            <a:ext cx="2697480" cy="2240280"/>
          </a:xfrm>
          <a:prstGeom prst="rect">
            <a:avLst/>
          </a:prstGeom>
          <a:solidFill>
            <a:srgbClr val="F1F7F2"/>
          </a:solidFill>
          <a:ln w="12700">
            <a:solidFill>
              <a:srgbClr val="F1F7F2"/>
            </a:solidFill>
            <a:prstDash val="solid"/>
          </a:ln>
        </p:spPr>
      </p:sp>
      <p:sp>
        <p:nvSpPr>
          <p:cNvPr id="15" name="Text 13"/>
          <p:cNvSpPr txBox="1"/>
          <p:nvPr/>
        </p:nvSpPr>
        <p:spPr>
          <a:xfrm>
            <a:off x="340156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Strategy / Initiative</a:t>
            </a:r>
            <a:endParaRPr lang="en-US" sz="1100" dirty="0"/>
          </a:p>
        </p:txBody>
      </p:sp>
      <p:sp>
        <p:nvSpPr>
          <p:cNvPr id="16" name="Text 14"/>
          <p:cNvSpPr txBox="1"/>
          <p:nvPr/>
        </p:nvSpPr>
        <p:spPr>
          <a:xfrm>
            <a:off x="340156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Mandatory registration of producers, recyclers, refurbishers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Online EPR portal for obligations, certificates, returns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Phased targets: 60% (FY24-25), 70% (FY26-27), 80% from FY2027-28</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Recycler EPR certificates transferred to producers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Compensation, audit and verification enforce compliance</a:t>
            </a:r>
            <a:endParaRPr lang="en-US" sz="1000" dirty="0"/>
          </a:p>
        </p:txBody>
      </p:sp>
      <p:sp>
        <p:nvSpPr>
          <p:cNvPr id="17" name="Shape 15"/>
          <p:cNvSpPr/>
          <p:nvPr/>
        </p:nvSpPr>
        <p:spPr>
          <a:xfrm>
            <a:off x="6172200" y="1965960"/>
            <a:ext cx="2697480" cy="2240280"/>
          </a:xfrm>
          <a:prstGeom prst="rect">
            <a:avLst/>
          </a:prstGeom>
          <a:solidFill>
            <a:srgbClr val="F1F7F2"/>
          </a:solidFill>
          <a:ln w="12700">
            <a:solidFill>
              <a:srgbClr val="F1F7F2"/>
            </a:solidFill>
            <a:prstDash val="solid"/>
          </a:ln>
        </p:spPr>
      </p:sp>
      <p:sp>
        <p:nvSpPr>
          <p:cNvPr id="18" name="Text 16"/>
          <p:cNvSpPr txBox="1"/>
          <p:nvPr/>
        </p:nvSpPr>
        <p:spPr>
          <a:xfrm>
            <a:off x="628192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Impact &amp; Results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81928" y="2331720"/>
          <a:ext cx="2478024" cy="914400"/>
        </p:xfrm>
        <a:graphic>
          <a:graphicData uri="http://schemas.openxmlformats.org/drawingml/2006/table">
            <a:tbl>
              <a:tblPr/>
              <a:tblGrid>
                <a:gridCol w="1371600"/>
                <a:gridCol w="1106424"/>
              </a:tblGrid>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Generated, FY2023-24</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12,54,286.55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Handled, FY2023-24</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61.94%</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Generated, FY2024-25</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13,97,955.59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Handled, FY2024-25</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70.71%</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Producers on portal</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6,685</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Registered recyclers</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276 (19,06,570 TPA)</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bl>
          </a:graphicData>
        </a:graphic>
      </p:graphicFrame>
      <p:sp>
        <p:nvSpPr>
          <p:cNvPr id="20" name="Shape 17"/>
          <p:cNvSpPr/>
          <p:nvPr/>
        </p:nvSpPr>
        <p:spPr>
          <a:xfrm>
            <a:off x="9052560" y="1965960"/>
            <a:ext cx="2697480" cy="2240280"/>
          </a:xfrm>
          <a:prstGeom prst="rect">
            <a:avLst/>
          </a:prstGeom>
          <a:solidFill>
            <a:srgbClr val="F1F7F2"/>
          </a:solidFill>
          <a:ln w="12700">
            <a:solidFill>
              <a:srgbClr val="F1F7F2"/>
            </a:solidFill>
            <a:prstDash val="solid"/>
          </a:ln>
        </p:spPr>
      </p:sp>
      <p:sp>
        <p:nvSpPr>
          <p:cNvPr id="21" name="Text 18"/>
          <p:cNvSpPr txBox="1"/>
          <p:nvPr/>
        </p:nvSpPr>
        <p:spPr>
          <a:xfrm>
            <a:off x="916228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Comparison with India</a:t>
            </a:r>
            <a:endParaRPr lang="en-US" sz="1100" dirty="0"/>
          </a:p>
        </p:txBody>
      </p:sp>
      <p:sp>
        <p:nvSpPr>
          <p:cNvPr id="22" name="Text 19"/>
          <p:cNvSpPr txBox="1"/>
          <p:nvPr/>
        </p:nvSpPr>
        <p:spPr>
          <a:xfrm>
            <a:off x="916228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This is the India baseline for the other international cases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vs Switzerland: strong digital EPR, but a larger informal sector and more uneven collection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vs Japan: more e-waste/EPR-specific; Japan's wider lesson is integrated resource circulation and participation</a:t>
            </a:r>
            <a:endParaRPr lang="en-US" sz="1000" dirty="0"/>
          </a:p>
        </p:txBody>
      </p:sp>
      <p:sp>
        <p:nvSpPr>
          <p:cNvPr id="23" name="Shape 20"/>
          <p:cNvSpPr/>
          <p:nvPr/>
        </p:nvSpPr>
        <p:spPr>
          <a:xfrm>
            <a:off x="411480" y="4315968"/>
            <a:ext cx="2761488" cy="996696"/>
          </a:xfrm>
          <a:prstGeom prst="rect">
            <a:avLst/>
          </a:prstGeom>
          <a:solidFill>
            <a:srgbClr val="E3F1E6"/>
          </a:solidFill>
          <a:ln w="12700">
            <a:solidFill>
              <a:srgbClr val="E3F1E6"/>
            </a:solidFill>
            <a:prstDash val="solid"/>
          </a:ln>
        </p:spPr>
      </p:sp>
      <p:sp>
        <p:nvSpPr>
          <p:cNvPr id="24" name="Text 21"/>
          <p:cNvSpPr txBox="1"/>
          <p:nvPr/>
        </p:nvSpPr>
        <p:spPr>
          <a:xfrm>
            <a:off x="521208" y="4370832"/>
            <a:ext cx="2542032"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25" name="Text 22"/>
          <p:cNvSpPr txBox="1"/>
          <p:nvPr/>
        </p:nvSpPr>
        <p:spPr>
          <a:xfrm>
            <a:off x="521208"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Portal-based EPR</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Clear producer obligations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EPR certificates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Environmental compensation and audits</a:t>
            </a:r>
            <a:endParaRPr lang="en-US" sz="900" dirty="0"/>
          </a:p>
        </p:txBody>
      </p:sp>
      <p:sp>
        <p:nvSpPr>
          <p:cNvPr id="26" name="Shape 23"/>
          <p:cNvSpPr/>
          <p:nvPr/>
        </p:nvSpPr>
        <p:spPr>
          <a:xfrm>
            <a:off x="3264408" y="4315968"/>
            <a:ext cx="2761488" cy="996696"/>
          </a:xfrm>
          <a:prstGeom prst="rect">
            <a:avLst/>
          </a:prstGeom>
          <a:solidFill>
            <a:srgbClr val="FCEFD9"/>
          </a:solidFill>
          <a:ln w="12700">
            <a:solidFill>
              <a:srgbClr val="FCEFD9"/>
            </a:solidFill>
            <a:prstDash val="solid"/>
          </a:ln>
        </p:spPr>
      </p:sp>
      <p:sp>
        <p:nvSpPr>
          <p:cNvPr id="27" name="Text 24"/>
          <p:cNvSpPr txBox="1"/>
          <p:nvPr/>
        </p:nvSpPr>
        <p:spPr>
          <a:xfrm>
            <a:off x="3374136" y="4370832"/>
            <a:ext cx="2542032" cy="256032"/>
          </a:xfrm>
          <a:prstGeom prst="rect">
            <a:avLst/>
          </a:prstGeom>
          <a:noFill/>
          <a:ln/>
        </p:spPr>
        <p:txBody>
          <a:bodyPr wrap="square" lIns="0" tIns="0" rIns="0" bIns="0" rtlCol="0" anchor="ctr"/>
          <a:lstStyle/>
          <a:p>
            <a:pPr indent="0" marL="0">
              <a:buNone/>
            </a:pPr>
            <a:r>
              <a:rPr lang="en-US" sz="1100" b="1" dirty="0">
                <a:solidFill>
                  <a:srgbClr val="8A5300"/>
                </a:solidFill>
                <a:latin typeface="Calibri" pitchFamily="34" charset="0"/>
                <a:ea typeface="Calibri" pitchFamily="34" charset="-122"/>
                <a:cs typeface="Calibri" pitchFamily="34" charset="-120"/>
              </a:rPr>
              <a:t>WEAKNESSES</a:t>
            </a:r>
            <a:endParaRPr lang="en-US" sz="1100" dirty="0"/>
          </a:p>
        </p:txBody>
      </p:sp>
      <p:sp>
        <p:nvSpPr>
          <p:cNvPr id="28" name="Text 25"/>
          <p:cNvSpPr txBox="1"/>
          <p:nvPr/>
        </p:nvSpPr>
        <p:spPr>
          <a:xfrm>
            <a:off x="3374136"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Uneven implementation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Consumer collection remains fragmented</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Verification is resource intensive</a:t>
            </a:r>
            <a:endParaRPr lang="en-US" sz="900" dirty="0"/>
          </a:p>
        </p:txBody>
      </p:sp>
      <p:sp>
        <p:nvSpPr>
          <p:cNvPr id="29" name="Shape 26"/>
          <p:cNvSpPr/>
          <p:nvPr/>
        </p:nvSpPr>
        <p:spPr>
          <a:xfrm>
            <a:off x="411480" y="5404104"/>
            <a:ext cx="2761488" cy="996696"/>
          </a:xfrm>
          <a:prstGeom prst="rect">
            <a:avLst/>
          </a:prstGeom>
          <a:solidFill>
            <a:srgbClr val="DDEFF3"/>
          </a:solidFill>
          <a:ln w="12700">
            <a:solidFill>
              <a:srgbClr val="DDEFF3"/>
            </a:solidFill>
            <a:prstDash val="solid"/>
          </a:ln>
        </p:spPr>
      </p:sp>
      <p:sp>
        <p:nvSpPr>
          <p:cNvPr id="30" name="Text 27"/>
          <p:cNvSpPr txBox="1"/>
          <p:nvPr/>
        </p:nvSpPr>
        <p:spPr>
          <a:xfrm>
            <a:off x="521208" y="5458968"/>
            <a:ext cx="2542032" cy="256032"/>
          </a:xfrm>
          <a:prstGeom prst="rect">
            <a:avLst/>
          </a:prstGeom>
          <a:noFill/>
          <a:ln/>
        </p:spPr>
        <p:txBody>
          <a:bodyPr wrap="square" lIns="0" tIns="0" rIns="0" bIns="0" rtlCol="0" anchor="ctr"/>
          <a:lstStyle/>
          <a:p>
            <a:pPr indent="0" marL="0">
              <a:buNone/>
            </a:pPr>
            <a:r>
              <a:rPr lang="en-US" sz="1100" b="1" dirty="0">
                <a:solidFill>
                  <a:srgbClr val="1F6F8B"/>
                </a:solidFill>
                <a:latin typeface="Calibri" pitchFamily="34" charset="0"/>
                <a:ea typeface="Calibri" pitchFamily="34" charset="-122"/>
                <a:cs typeface="Calibri" pitchFamily="34" charset="-120"/>
              </a:rPr>
              <a:t>OPPORTUNITIES</a:t>
            </a:r>
            <a:endParaRPr lang="en-US" sz="1100" dirty="0"/>
          </a:p>
        </p:txBody>
      </p:sp>
      <p:sp>
        <p:nvSpPr>
          <p:cNvPr id="31" name="Text 28"/>
          <p:cNvSpPr txBox="1"/>
          <p:nvPr/>
        </p:nvSpPr>
        <p:spPr>
          <a:xfrm>
            <a:off x="521208"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Formal-informal integration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Digital traceability</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Repair/refurbishment growth</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Critical-material recovery</a:t>
            </a:r>
            <a:endParaRPr lang="en-US" sz="900" dirty="0"/>
          </a:p>
        </p:txBody>
      </p:sp>
      <p:sp>
        <p:nvSpPr>
          <p:cNvPr id="32" name="Shape 29"/>
          <p:cNvSpPr/>
          <p:nvPr/>
        </p:nvSpPr>
        <p:spPr>
          <a:xfrm>
            <a:off x="3264408" y="5404104"/>
            <a:ext cx="2761488" cy="996696"/>
          </a:xfrm>
          <a:prstGeom prst="rect">
            <a:avLst/>
          </a:prstGeom>
          <a:solidFill>
            <a:srgbClr val="F8E1DE"/>
          </a:solidFill>
          <a:ln w="12700">
            <a:solidFill>
              <a:srgbClr val="F8E1DE"/>
            </a:solidFill>
            <a:prstDash val="solid"/>
          </a:ln>
        </p:spPr>
      </p:sp>
      <p:sp>
        <p:nvSpPr>
          <p:cNvPr id="33" name="Text 30"/>
          <p:cNvSpPr txBox="1"/>
          <p:nvPr/>
        </p:nvSpPr>
        <p:spPr>
          <a:xfrm>
            <a:off x="3374136" y="5458968"/>
            <a:ext cx="2542032" cy="256032"/>
          </a:xfrm>
          <a:prstGeom prst="rect">
            <a:avLst/>
          </a:prstGeom>
          <a:noFill/>
          <a:ln/>
        </p:spPr>
        <p:txBody>
          <a:bodyPr wrap="square" lIns="0" tIns="0" rIns="0" bIns="0" rtlCol="0" anchor="ctr"/>
          <a:lstStyle/>
          <a:p>
            <a:pPr indent="0" marL="0">
              <a:buNone/>
            </a:pPr>
            <a:r>
              <a:rPr lang="en-US" sz="1100" b="1" dirty="0">
                <a:solidFill>
                  <a:srgbClr val="A23B2A"/>
                </a:solidFill>
                <a:latin typeface="Calibri" pitchFamily="34" charset="0"/>
                <a:ea typeface="Calibri" pitchFamily="34" charset="-122"/>
                <a:cs typeface="Calibri" pitchFamily="34" charset="-120"/>
              </a:rPr>
              <a:t>THREATS</a:t>
            </a:r>
            <a:endParaRPr lang="en-US" sz="1100" dirty="0"/>
          </a:p>
        </p:txBody>
      </p:sp>
      <p:sp>
        <p:nvSpPr>
          <p:cNvPr id="34" name="Text 31"/>
          <p:cNvSpPr txBox="1"/>
          <p:nvPr/>
        </p:nvSpPr>
        <p:spPr>
          <a:xfrm>
            <a:off x="3374136"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Rapid e-device growth</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Informal unsafe processing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False/weak recycling claims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Battery fire and hazardous-material risks</a:t>
            </a:r>
            <a:endParaRPr lang="en-US" sz="900" dirty="0"/>
          </a:p>
        </p:txBody>
      </p:sp>
      <p:sp>
        <p:nvSpPr>
          <p:cNvPr id="35" name="Shape 32"/>
          <p:cNvSpPr/>
          <p:nvPr/>
        </p:nvSpPr>
        <p:spPr>
          <a:xfrm>
            <a:off x="6263640" y="4315968"/>
            <a:ext cx="3291840" cy="2084832"/>
          </a:xfrm>
          <a:prstGeom prst="rect">
            <a:avLst/>
          </a:prstGeom>
          <a:solidFill>
            <a:srgbClr val="F1F7F2"/>
          </a:solidFill>
          <a:ln w="12700">
            <a:solidFill>
              <a:srgbClr val="F1F7F2"/>
            </a:solidFill>
            <a:prstDash val="solid"/>
          </a:ln>
        </p:spPr>
      </p:sp>
      <p:sp>
        <p:nvSpPr>
          <p:cNvPr id="36" name="Text 33"/>
          <p:cNvSpPr txBox="1"/>
          <p:nvPr/>
        </p:nvSpPr>
        <p:spPr>
          <a:xfrm>
            <a:off x="6373368" y="4370832"/>
            <a:ext cx="307238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Recommendations</a:t>
            </a:r>
            <a:endParaRPr lang="en-US" sz="1100" dirty="0"/>
          </a:p>
        </p:txBody>
      </p:sp>
      <p:sp>
        <p:nvSpPr>
          <p:cNvPr id="37" name="Text 34"/>
          <p:cNvSpPr txBox="1"/>
          <p:nvPr/>
        </p:nvSpPr>
        <p:spPr>
          <a:xfrm>
            <a:off x="6373368" y="4663440"/>
            <a:ext cx="3090672" cy="1682496"/>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City/state-level performance dashboards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More verification of recycler inputs, outputs, end-product sales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Formal partnerships with informal collectors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Stronger consumer take-back points and awareness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Track reuse/refurbishment separately from recycling</a:t>
            </a:r>
            <a:endParaRPr lang="en-US" sz="1000" dirty="0"/>
          </a:p>
        </p:txBody>
      </p:sp>
      <p:sp>
        <p:nvSpPr>
          <p:cNvPr id="38" name="Shape 35"/>
          <p:cNvSpPr/>
          <p:nvPr/>
        </p:nvSpPr>
        <p:spPr>
          <a:xfrm>
            <a:off x="9692640" y="4315968"/>
            <a:ext cx="2084832" cy="2084832"/>
          </a:xfrm>
          <a:prstGeom prst="rect">
            <a:avLst/>
          </a:prstGeom>
          <a:solidFill>
            <a:srgbClr val="1B4332"/>
          </a:solidFill>
          <a:ln w="12700">
            <a:solidFill>
              <a:srgbClr val="1B4332"/>
            </a:solidFill>
            <a:prstDash val="solid"/>
          </a:ln>
        </p:spPr>
      </p:sp>
      <p:sp>
        <p:nvSpPr>
          <p:cNvPr id="39" name="Text 36"/>
          <p:cNvSpPr txBox="1"/>
          <p:nvPr/>
        </p:nvSpPr>
        <p:spPr>
          <a:xfrm>
            <a:off x="9802368" y="4370832"/>
            <a:ext cx="1865376" cy="256032"/>
          </a:xfrm>
          <a:prstGeom prst="rect">
            <a:avLst/>
          </a:prstGeom>
          <a:noFill/>
          <a:ln/>
        </p:spPr>
        <p:txBody>
          <a:bodyPr wrap="square" lIns="0" tIns="0" rIns="0" bIns="0" rtlCol="0" anchor="ctr"/>
          <a:lstStyle/>
          <a:p>
            <a:pPr indent="0" marL="0">
              <a:buNone/>
            </a:pPr>
            <a:r>
              <a:rPr lang="en-US" sz="1100" b="1" dirty="0">
                <a:solidFill>
                  <a:srgbClr val="F4C95D"/>
                </a:solidFill>
                <a:latin typeface="Calibri" pitchFamily="34" charset="0"/>
                <a:ea typeface="Calibri" pitchFamily="34" charset="-122"/>
                <a:cs typeface="Calibri" pitchFamily="34" charset="-120"/>
              </a:rPr>
              <a:t>Conclusion</a:t>
            </a:r>
            <a:endParaRPr lang="en-US" sz="1100" dirty="0"/>
          </a:p>
        </p:txBody>
      </p:sp>
      <p:sp>
        <p:nvSpPr>
          <p:cNvPr id="40" name="Text 37"/>
          <p:cNvSpPr txBox="1"/>
          <p:nvPr/>
        </p:nvSpPr>
        <p:spPr>
          <a:xfrm>
            <a:off x="9802368" y="4663440"/>
            <a:ext cx="1883664" cy="168249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The 2022 Rules provide a modern regulatory architecture for e-waste. Effectiveness depends on reliable data, verification, recycler capacity, consumer participation and integration of informal collection networks.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7589520" cy="777240"/>
          </a:xfrm>
          <a:prstGeom prst="rect">
            <a:avLst/>
          </a:prstGeom>
          <a:noFill/>
          <a:ln/>
        </p:spPr>
        <p:txBody>
          <a:bodyPr wrap="square" lIns="0" tIns="0" rIns="0" bIns="0" rtlCol="0" anchor="ctr"/>
          <a:lstStyle/>
          <a:p>
            <a:pPr indent="0" marL="0">
              <a:buNone/>
            </a:pPr>
            <a:r>
              <a:rPr lang="en-US" sz="2200" b="1" dirty="0">
                <a:solidFill>
                  <a:srgbClr val="1B4332"/>
                </a:solidFill>
                <a:latin typeface="Cambria" pitchFamily="34" charset="0"/>
                <a:ea typeface="Cambria" pitchFamily="34" charset="-122"/>
                <a:cs typeface="Cambria" pitchFamily="34" charset="-120"/>
              </a:rPr>
              <a:t>India's Extended Producer Responsibility (EPR): Success or Paper Compliance?</a:t>
            </a:r>
            <a:endParaRPr lang="en-US" sz="2200" dirty="0"/>
          </a:p>
        </p:txBody>
      </p:sp>
      <p:sp>
        <p:nvSpPr>
          <p:cNvPr id="3" name="Shape 1"/>
          <p:cNvSpPr/>
          <p:nvPr/>
        </p:nvSpPr>
        <p:spPr>
          <a:xfrm>
            <a:off x="8183880" y="256032"/>
            <a:ext cx="1737360" cy="777240"/>
          </a:xfrm>
          <a:prstGeom prst="rect">
            <a:avLst/>
          </a:prstGeom>
          <a:solidFill>
            <a:srgbClr val="1B4332"/>
          </a:solidFill>
          <a:ln w="12700">
            <a:solidFill>
              <a:srgbClr val="1B4332"/>
            </a:solidFill>
            <a:prstDash val="solid"/>
          </a:ln>
        </p:spPr>
      </p:sp>
      <p:sp>
        <p:nvSpPr>
          <p:cNvPr id="4" name="Text 2"/>
          <p:cNvSpPr txBox="1"/>
          <p:nvPr/>
        </p:nvSpPr>
        <p:spPr>
          <a:xfrm>
            <a:off x="82296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7,226</a:t>
            </a:r>
            <a:endParaRPr lang="en-US" sz="2000" dirty="0"/>
          </a:p>
        </p:txBody>
      </p:sp>
      <p:sp>
        <p:nvSpPr>
          <p:cNvPr id="5" name="Text 3"/>
          <p:cNvSpPr txBox="1"/>
          <p:nvPr/>
        </p:nvSpPr>
        <p:spPr>
          <a:xfrm>
            <a:off x="82296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producers registered, Mar 2026</a:t>
            </a:r>
            <a:endParaRPr lang="en-US" sz="850" dirty="0"/>
          </a:p>
        </p:txBody>
      </p:sp>
      <p:sp>
        <p:nvSpPr>
          <p:cNvPr id="6" name="Shape 4"/>
          <p:cNvSpPr/>
          <p:nvPr/>
        </p:nvSpPr>
        <p:spPr>
          <a:xfrm>
            <a:off x="10012680" y="256032"/>
            <a:ext cx="1737360" cy="777240"/>
          </a:xfrm>
          <a:prstGeom prst="rect">
            <a:avLst/>
          </a:prstGeom>
          <a:solidFill>
            <a:srgbClr val="1B4332"/>
          </a:solidFill>
          <a:ln w="12700">
            <a:solidFill>
              <a:srgbClr val="1B4332"/>
            </a:solidFill>
            <a:prstDash val="solid"/>
          </a:ln>
        </p:spPr>
      </p:sp>
      <p:sp>
        <p:nvSpPr>
          <p:cNvPr id="7" name="Text 5"/>
          <p:cNvSpPr txBox="1"/>
          <p:nvPr/>
        </p:nvSpPr>
        <p:spPr>
          <a:xfrm>
            <a:off x="100584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386</a:t>
            </a:r>
            <a:endParaRPr lang="en-US" sz="2000" dirty="0"/>
          </a:p>
        </p:txBody>
      </p:sp>
      <p:sp>
        <p:nvSpPr>
          <p:cNvPr id="8" name="Text 6"/>
          <p:cNvSpPr txBox="1"/>
          <p:nvPr/>
        </p:nvSpPr>
        <p:spPr>
          <a:xfrm>
            <a:off x="100584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recyclers registered, Mar 2026</a:t>
            </a:r>
            <a:endParaRPr lang="en-US" sz="850" dirty="0"/>
          </a:p>
        </p:txBody>
      </p:sp>
      <p:sp>
        <p:nvSpPr>
          <p:cNvPr id="9" name="Shape 7"/>
          <p:cNvSpPr/>
          <p:nvPr/>
        </p:nvSpPr>
        <p:spPr>
          <a:xfrm>
            <a:off x="411480" y="1143000"/>
            <a:ext cx="11365992" cy="731520"/>
          </a:xfrm>
          <a:prstGeom prst="rect">
            <a:avLst/>
          </a:prstGeom>
          <a:solidFill>
            <a:srgbClr val="F1F7F2"/>
          </a:solidFill>
          <a:ln w="12700">
            <a:solidFill>
              <a:srgbClr val="F1F7F2"/>
            </a:solidFill>
            <a:prstDash val="solid"/>
          </a:ln>
        </p:spPr>
      </p:sp>
      <p:sp>
        <p:nvSpPr>
          <p:cNvPr id="10" name="Text 8"/>
          <p:cNvSpPr txBox="1"/>
          <p:nvPr/>
        </p:nvSpPr>
        <p:spPr>
          <a:xfrm>
            <a:off x="521208" y="1161288"/>
            <a:ext cx="11155680" cy="694944"/>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Executive Summary  </a:t>
            </a:r>
            <a:pPr indent="0" marL="0">
              <a:buNone/>
            </a:pPr>
            <a:r>
              <a:rPr lang="en-US" sz="1000" dirty="0">
                <a:solidFill>
                  <a:srgbClr val="1F2933"/>
                </a:solidFill>
                <a:latin typeface="Calibri" pitchFamily="34" charset="0"/>
                <a:ea typeface="Calibri" pitchFamily="34" charset="-122"/>
                <a:cs typeface="Calibri" pitchFamily="34" charset="-120"/>
              </a:rPr>
              <a:t>India's EPR is increasingly measurable through portals and EPR certificates, with substantial registration and certificate trading. But compliance can't be judged by certificates alone: outcomes depend on material reaching verified recycling, recycled outputs being sold, and informal flows being safely integrated. It is a compliance-and-verification challenge, not a simple success/failure.</a:t>
            </a:r>
            <a:endParaRPr lang="en-US" sz="1100" dirty="0"/>
          </a:p>
        </p:txBody>
      </p:sp>
      <p:sp>
        <p:nvSpPr>
          <p:cNvPr id="11" name="Shape 9"/>
          <p:cNvSpPr/>
          <p:nvPr/>
        </p:nvSpPr>
        <p:spPr>
          <a:xfrm>
            <a:off x="411480" y="1965960"/>
            <a:ext cx="2697480" cy="2240280"/>
          </a:xfrm>
          <a:prstGeom prst="rect">
            <a:avLst/>
          </a:prstGeom>
          <a:solidFill>
            <a:srgbClr val="F1F7F2"/>
          </a:solidFill>
          <a:ln w="12700">
            <a:solidFill>
              <a:srgbClr val="F1F7F2"/>
            </a:solidFill>
            <a:prstDash val="solid"/>
          </a:ln>
        </p:spPr>
      </p:sp>
      <p:sp>
        <p:nvSpPr>
          <p:cNvPr id="12" name="Text 10"/>
          <p:cNvSpPr txBox="1"/>
          <p:nvPr/>
        </p:nvSpPr>
        <p:spPr>
          <a:xfrm>
            <a:off x="52120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Background</a:t>
            </a:r>
            <a:endParaRPr lang="en-US" sz="1100" dirty="0"/>
          </a:p>
        </p:txBody>
      </p:sp>
      <p:sp>
        <p:nvSpPr>
          <p:cNvPr id="13" name="Text 11"/>
          <p:cNvSpPr txBox="1"/>
          <p:nvPr/>
        </p:nvSpPr>
        <p:spPr>
          <a:xfrm>
            <a:off x="52120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EPR makes producers responsible for end-of-life obligations, not only municipalities and consumers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Under the 2022 Rules, producers buy EPR certificates from registered recyclers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CPCB requires evidence such as recycler sales data and GST-linked invoices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Environmental compensation adds a financial enforcement layer</a:t>
            </a:r>
            <a:endParaRPr lang="en-US" sz="1000" dirty="0"/>
          </a:p>
        </p:txBody>
      </p:sp>
      <p:sp>
        <p:nvSpPr>
          <p:cNvPr id="14" name="Shape 12"/>
          <p:cNvSpPr/>
          <p:nvPr/>
        </p:nvSpPr>
        <p:spPr>
          <a:xfrm>
            <a:off x="3291840" y="1965960"/>
            <a:ext cx="2697480" cy="2240280"/>
          </a:xfrm>
          <a:prstGeom prst="rect">
            <a:avLst/>
          </a:prstGeom>
          <a:solidFill>
            <a:srgbClr val="F1F7F2"/>
          </a:solidFill>
          <a:ln w="12700">
            <a:solidFill>
              <a:srgbClr val="F1F7F2"/>
            </a:solidFill>
            <a:prstDash val="solid"/>
          </a:ln>
        </p:spPr>
      </p:sp>
      <p:sp>
        <p:nvSpPr>
          <p:cNvPr id="15" name="Text 13"/>
          <p:cNvSpPr txBox="1"/>
          <p:nvPr/>
        </p:nvSpPr>
        <p:spPr>
          <a:xfrm>
            <a:off x="340156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Strategy / Initiative</a:t>
            </a:r>
            <a:endParaRPr lang="en-US" sz="1100" dirty="0"/>
          </a:p>
        </p:txBody>
      </p:sp>
      <p:sp>
        <p:nvSpPr>
          <p:cNvPr id="16" name="Text 14"/>
          <p:cNvSpPr txBox="1"/>
          <p:nvPr/>
        </p:nvSpPr>
        <p:spPr>
          <a:xfrm>
            <a:off x="340156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Central registration of producers, recyclers, refurbishers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Quantified obligations; certificate generation and transfer</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Verification via portal records, audits, recycler documents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Environmental compensation for violations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Formalised capacity; circular-economy incentives</a:t>
            </a:r>
            <a:endParaRPr lang="en-US" sz="1000" dirty="0"/>
          </a:p>
        </p:txBody>
      </p:sp>
      <p:sp>
        <p:nvSpPr>
          <p:cNvPr id="17" name="Shape 15"/>
          <p:cNvSpPr/>
          <p:nvPr/>
        </p:nvSpPr>
        <p:spPr>
          <a:xfrm>
            <a:off x="6172200" y="1965960"/>
            <a:ext cx="2697480" cy="2240280"/>
          </a:xfrm>
          <a:prstGeom prst="rect">
            <a:avLst/>
          </a:prstGeom>
          <a:solidFill>
            <a:srgbClr val="F1F7F2"/>
          </a:solidFill>
          <a:ln w="12700">
            <a:solidFill>
              <a:srgbClr val="F1F7F2"/>
            </a:solidFill>
            <a:prstDash val="solid"/>
          </a:ln>
        </p:spPr>
      </p:sp>
      <p:sp>
        <p:nvSpPr>
          <p:cNvPr id="18" name="Text 16"/>
          <p:cNvSpPr txBox="1"/>
          <p:nvPr/>
        </p:nvSpPr>
        <p:spPr>
          <a:xfrm>
            <a:off x="628192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Impact &amp; Results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81928" y="2331720"/>
          <a:ext cx="2478024" cy="914400"/>
        </p:xfrm>
        <a:graphic>
          <a:graphicData uri="http://schemas.openxmlformats.org/drawingml/2006/table">
            <a:tbl>
              <a:tblPr/>
              <a:tblGrid>
                <a:gridCol w="1371600"/>
                <a:gridCol w="1106424"/>
              </a:tblGrid>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Producers registered (Mar 2026)</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7,226</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Recyclers registered</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386</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Recycled under EPR</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28.75 lakh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EPR certificates generated</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11.86 lakh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FY2023-24 obligation</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2,76,771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FY2023-24 certificates transferred</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2,54,607 MT</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bl>
          </a:graphicData>
        </a:graphic>
      </p:graphicFrame>
      <p:sp>
        <p:nvSpPr>
          <p:cNvPr id="20" name="Shape 17"/>
          <p:cNvSpPr/>
          <p:nvPr/>
        </p:nvSpPr>
        <p:spPr>
          <a:xfrm>
            <a:off x="9052560" y="1965960"/>
            <a:ext cx="2697480" cy="2240280"/>
          </a:xfrm>
          <a:prstGeom prst="rect">
            <a:avLst/>
          </a:prstGeom>
          <a:solidFill>
            <a:srgbClr val="F1F7F2"/>
          </a:solidFill>
          <a:ln w="12700">
            <a:solidFill>
              <a:srgbClr val="F1F7F2"/>
            </a:solidFill>
            <a:prstDash val="solid"/>
          </a:ln>
        </p:spPr>
      </p:sp>
      <p:sp>
        <p:nvSpPr>
          <p:cNvPr id="21" name="Text 18"/>
          <p:cNvSpPr txBox="1"/>
          <p:nvPr/>
        </p:nvSpPr>
        <p:spPr>
          <a:xfrm>
            <a:off x="916228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Comparison with India</a:t>
            </a:r>
            <a:endParaRPr lang="en-US" sz="1100" dirty="0"/>
          </a:p>
        </p:txBody>
      </p:sp>
      <p:sp>
        <p:nvSpPr>
          <p:cNvPr id="22" name="Text 19"/>
          <p:cNvSpPr txBox="1"/>
          <p:nvPr/>
        </p:nvSpPr>
        <p:spPr>
          <a:xfrm>
            <a:off x="916228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Stronger on formal digital compliance than older collection-only approaches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Switzerland: financing plus convenient take-back reinforce responsibility; India needs wider consumer collection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Japan: producer responsibility works best with municipal source separation and public participation</a:t>
            </a:r>
            <a:endParaRPr lang="en-US" sz="1000" dirty="0"/>
          </a:p>
        </p:txBody>
      </p:sp>
      <p:sp>
        <p:nvSpPr>
          <p:cNvPr id="23" name="Shape 20"/>
          <p:cNvSpPr/>
          <p:nvPr/>
        </p:nvSpPr>
        <p:spPr>
          <a:xfrm>
            <a:off x="411480" y="4315968"/>
            <a:ext cx="2761488" cy="996696"/>
          </a:xfrm>
          <a:prstGeom prst="rect">
            <a:avLst/>
          </a:prstGeom>
          <a:solidFill>
            <a:srgbClr val="E3F1E6"/>
          </a:solidFill>
          <a:ln w="12700">
            <a:solidFill>
              <a:srgbClr val="E3F1E6"/>
            </a:solidFill>
            <a:prstDash val="solid"/>
          </a:ln>
        </p:spPr>
      </p:sp>
      <p:sp>
        <p:nvSpPr>
          <p:cNvPr id="24" name="Text 21"/>
          <p:cNvSpPr txBox="1"/>
          <p:nvPr/>
        </p:nvSpPr>
        <p:spPr>
          <a:xfrm>
            <a:off x="521208" y="4370832"/>
            <a:ext cx="2542032"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25" name="Text 22"/>
          <p:cNvSpPr txBox="1"/>
          <p:nvPr/>
        </p:nvSpPr>
        <p:spPr>
          <a:xfrm>
            <a:off x="521208"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Quantified obligations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Centralised digital portal</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Certificate market</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Audit and compensation provisions</a:t>
            </a:r>
            <a:endParaRPr lang="en-US" sz="900" dirty="0"/>
          </a:p>
        </p:txBody>
      </p:sp>
      <p:sp>
        <p:nvSpPr>
          <p:cNvPr id="26" name="Shape 23"/>
          <p:cNvSpPr/>
          <p:nvPr/>
        </p:nvSpPr>
        <p:spPr>
          <a:xfrm>
            <a:off x="3264408" y="4315968"/>
            <a:ext cx="2761488" cy="996696"/>
          </a:xfrm>
          <a:prstGeom prst="rect">
            <a:avLst/>
          </a:prstGeom>
          <a:solidFill>
            <a:srgbClr val="FCEFD9"/>
          </a:solidFill>
          <a:ln w="12700">
            <a:solidFill>
              <a:srgbClr val="FCEFD9"/>
            </a:solidFill>
            <a:prstDash val="solid"/>
          </a:ln>
        </p:spPr>
      </p:sp>
      <p:sp>
        <p:nvSpPr>
          <p:cNvPr id="27" name="Text 24"/>
          <p:cNvSpPr txBox="1"/>
          <p:nvPr/>
        </p:nvSpPr>
        <p:spPr>
          <a:xfrm>
            <a:off x="3374136" y="4370832"/>
            <a:ext cx="2542032" cy="256032"/>
          </a:xfrm>
          <a:prstGeom prst="rect">
            <a:avLst/>
          </a:prstGeom>
          <a:noFill/>
          <a:ln/>
        </p:spPr>
        <p:txBody>
          <a:bodyPr wrap="square" lIns="0" tIns="0" rIns="0" bIns="0" rtlCol="0" anchor="ctr"/>
          <a:lstStyle/>
          <a:p>
            <a:pPr indent="0" marL="0">
              <a:buNone/>
            </a:pPr>
            <a:r>
              <a:rPr lang="en-US" sz="1100" b="1" dirty="0">
                <a:solidFill>
                  <a:srgbClr val="8A5300"/>
                </a:solidFill>
                <a:latin typeface="Calibri" pitchFamily="34" charset="0"/>
                <a:ea typeface="Calibri" pitchFamily="34" charset="-122"/>
                <a:cs typeface="Calibri" pitchFamily="34" charset="-120"/>
              </a:rPr>
              <a:t>WEAKNESSES</a:t>
            </a:r>
            <a:endParaRPr lang="en-US" sz="1100" dirty="0"/>
          </a:p>
        </p:txBody>
      </p:sp>
      <p:sp>
        <p:nvSpPr>
          <p:cNvPr id="28" name="Text 25"/>
          <p:cNvSpPr txBox="1"/>
          <p:nvPr/>
        </p:nvSpPr>
        <p:spPr>
          <a:xfrm>
            <a:off x="3374136"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Verification complexity</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Data-quality dependence</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Possible gap between paperwork and physical flows</a:t>
            </a:r>
            <a:endParaRPr lang="en-US" sz="900" dirty="0"/>
          </a:p>
        </p:txBody>
      </p:sp>
      <p:sp>
        <p:nvSpPr>
          <p:cNvPr id="29" name="Shape 26"/>
          <p:cNvSpPr/>
          <p:nvPr/>
        </p:nvSpPr>
        <p:spPr>
          <a:xfrm>
            <a:off x="411480" y="5404104"/>
            <a:ext cx="2761488" cy="996696"/>
          </a:xfrm>
          <a:prstGeom prst="rect">
            <a:avLst/>
          </a:prstGeom>
          <a:solidFill>
            <a:srgbClr val="DDEFF3"/>
          </a:solidFill>
          <a:ln w="12700">
            <a:solidFill>
              <a:srgbClr val="DDEFF3"/>
            </a:solidFill>
            <a:prstDash val="solid"/>
          </a:ln>
        </p:spPr>
      </p:sp>
      <p:sp>
        <p:nvSpPr>
          <p:cNvPr id="30" name="Text 27"/>
          <p:cNvSpPr txBox="1"/>
          <p:nvPr/>
        </p:nvSpPr>
        <p:spPr>
          <a:xfrm>
            <a:off x="521208" y="5458968"/>
            <a:ext cx="2542032" cy="256032"/>
          </a:xfrm>
          <a:prstGeom prst="rect">
            <a:avLst/>
          </a:prstGeom>
          <a:noFill/>
          <a:ln/>
        </p:spPr>
        <p:txBody>
          <a:bodyPr wrap="square" lIns="0" tIns="0" rIns="0" bIns="0" rtlCol="0" anchor="ctr"/>
          <a:lstStyle/>
          <a:p>
            <a:pPr indent="0" marL="0">
              <a:buNone/>
            </a:pPr>
            <a:r>
              <a:rPr lang="en-US" sz="1100" b="1" dirty="0">
                <a:solidFill>
                  <a:srgbClr val="1F6F8B"/>
                </a:solidFill>
                <a:latin typeface="Calibri" pitchFamily="34" charset="0"/>
                <a:ea typeface="Calibri" pitchFamily="34" charset="-122"/>
                <a:cs typeface="Calibri" pitchFamily="34" charset="-120"/>
              </a:rPr>
              <a:t>OPPORTUNITIES</a:t>
            </a:r>
            <a:endParaRPr lang="en-US" sz="1100" dirty="0"/>
          </a:p>
        </p:txBody>
      </p:sp>
      <p:sp>
        <p:nvSpPr>
          <p:cNvPr id="31" name="Text 28"/>
          <p:cNvSpPr txBox="1"/>
          <p:nvPr/>
        </p:nvSpPr>
        <p:spPr>
          <a:xfrm>
            <a:off x="521208"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Mass-balance tracking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AI anomaly detection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Formal-informal integration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Outcome-based compliance</a:t>
            </a:r>
            <a:endParaRPr lang="en-US" sz="900" dirty="0"/>
          </a:p>
        </p:txBody>
      </p:sp>
      <p:sp>
        <p:nvSpPr>
          <p:cNvPr id="32" name="Shape 29"/>
          <p:cNvSpPr/>
          <p:nvPr/>
        </p:nvSpPr>
        <p:spPr>
          <a:xfrm>
            <a:off x="3264408" y="5404104"/>
            <a:ext cx="2761488" cy="996696"/>
          </a:xfrm>
          <a:prstGeom prst="rect">
            <a:avLst/>
          </a:prstGeom>
          <a:solidFill>
            <a:srgbClr val="F8E1DE"/>
          </a:solidFill>
          <a:ln w="12700">
            <a:solidFill>
              <a:srgbClr val="F8E1DE"/>
            </a:solidFill>
            <a:prstDash val="solid"/>
          </a:ln>
        </p:spPr>
      </p:sp>
      <p:sp>
        <p:nvSpPr>
          <p:cNvPr id="33" name="Text 30"/>
          <p:cNvSpPr txBox="1"/>
          <p:nvPr/>
        </p:nvSpPr>
        <p:spPr>
          <a:xfrm>
            <a:off x="3374136" y="5458968"/>
            <a:ext cx="2542032" cy="256032"/>
          </a:xfrm>
          <a:prstGeom prst="rect">
            <a:avLst/>
          </a:prstGeom>
          <a:noFill/>
          <a:ln/>
        </p:spPr>
        <p:txBody>
          <a:bodyPr wrap="square" lIns="0" tIns="0" rIns="0" bIns="0" rtlCol="0" anchor="ctr"/>
          <a:lstStyle/>
          <a:p>
            <a:pPr indent="0" marL="0">
              <a:buNone/>
            </a:pPr>
            <a:r>
              <a:rPr lang="en-US" sz="1100" b="1" dirty="0">
                <a:solidFill>
                  <a:srgbClr val="A23B2A"/>
                </a:solidFill>
                <a:latin typeface="Calibri" pitchFamily="34" charset="0"/>
                <a:ea typeface="Calibri" pitchFamily="34" charset="-122"/>
                <a:cs typeface="Calibri" pitchFamily="34" charset="-120"/>
              </a:rPr>
              <a:t>THREATS</a:t>
            </a:r>
            <a:endParaRPr lang="en-US" sz="1100" dirty="0"/>
          </a:p>
        </p:txBody>
      </p:sp>
      <p:sp>
        <p:nvSpPr>
          <p:cNvPr id="34" name="Text 31"/>
          <p:cNvSpPr txBox="1"/>
          <p:nvPr/>
        </p:nvSpPr>
        <p:spPr>
          <a:xfrm>
            <a:off x="3374136"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Certificate misuse</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Recycler capacity claims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Informal leakage</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Rapid growth in complex e-waste</a:t>
            </a:r>
            <a:endParaRPr lang="en-US" sz="900" dirty="0"/>
          </a:p>
        </p:txBody>
      </p:sp>
      <p:sp>
        <p:nvSpPr>
          <p:cNvPr id="35" name="Shape 32"/>
          <p:cNvSpPr/>
          <p:nvPr/>
        </p:nvSpPr>
        <p:spPr>
          <a:xfrm>
            <a:off x="6263640" y="4315968"/>
            <a:ext cx="3291840" cy="2084832"/>
          </a:xfrm>
          <a:prstGeom prst="rect">
            <a:avLst/>
          </a:prstGeom>
          <a:solidFill>
            <a:srgbClr val="F1F7F2"/>
          </a:solidFill>
          <a:ln w="12700">
            <a:solidFill>
              <a:srgbClr val="F1F7F2"/>
            </a:solidFill>
            <a:prstDash val="solid"/>
          </a:ln>
        </p:spPr>
      </p:sp>
      <p:sp>
        <p:nvSpPr>
          <p:cNvPr id="36" name="Text 33"/>
          <p:cNvSpPr txBox="1"/>
          <p:nvPr/>
        </p:nvSpPr>
        <p:spPr>
          <a:xfrm>
            <a:off x="6373368" y="4370832"/>
            <a:ext cx="307238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Recommendations</a:t>
            </a:r>
            <a:endParaRPr lang="en-US" sz="1100" dirty="0"/>
          </a:p>
        </p:txBody>
      </p:sp>
      <p:sp>
        <p:nvSpPr>
          <p:cNvPr id="37" name="Text 34"/>
          <p:cNvSpPr txBox="1"/>
          <p:nvPr/>
        </p:nvSpPr>
        <p:spPr>
          <a:xfrm>
            <a:off x="6373368" y="4663440"/>
            <a:ext cx="3090672" cy="1682496"/>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Publish certificate-to-physical-output audit summaries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Random third-party audits and mass-balance checks for high-risk recyclers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Measure reuse, refurbishment, recycling, disposal separately</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Interoperable tracking: collection → dismantling → recycling → material sale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Reward verified outcomes, not paperwork</a:t>
            </a:r>
            <a:endParaRPr lang="en-US" sz="1000" dirty="0"/>
          </a:p>
        </p:txBody>
      </p:sp>
      <p:sp>
        <p:nvSpPr>
          <p:cNvPr id="38" name="Shape 35"/>
          <p:cNvSpPr/>
          <p:nvPr/>
        </p:nvSpPr>
        <p:spPr>
          <a:xfrm>
            <a:off x="9692640" y="4315968"/>
            <a:ext cx="2084832" cy="2084832"/>
          </a:xfrm>
          <a:prstGeom prst="rect">
            <a:avLst/>
          </a:prstGeom>
          <a:solidFill>
            <a:srgbClr val="1B4332"/>
          </a:solidFill>
          <a:ln w="12700">
            <a:solidFill>
              <a:srgbClr val="1B4332"/>
            </a:solidFill>
            <a:prstDash val="solid"/>
          </a:ln>
        </p:spPr>
      </p:sp>
      <p:sp>
        <p:nvSpPr>
          <p:cNvPr id="39" name="Text 36"/>
          <p:cNvSpPr txBox="1"/>
          <p:nvPr/>
        </p:nvSpPr>
        <p:spPr>
          <a:xfrm>
            <a:off x="9802368" y="4370832"/>
            <a:ext cx="1865376" cy="256032"/>
          </a:xfrm>
          <a:prstGeom prst="rect">
            <a:avLst/>
          </a:prstGeom>
          <a:noFill/>
          <a:ln/>
        </p:spPr>
        <p:txBody>
          <a:bodyPr wrap="square" lIns="0" tIns="0" rIns="0" bIns="0" rtlCol="0" anchor="ctr"/>
          <a:lstStyle/>
          <a:p>
            <a:pPr indent="0" marL="0">
              <a:buNone/>
            </a:pPr>
            <a:r>
              <a:rPr lang="en-US" sz="1100" b="1" dirty="0">
                <a:solidFill>
                  <a:srgbClr val="F4C95D"/>
                </a:solidFill>
                <a:latin typeface="Calibri" pitchFamily="34" charset="0"/>
                <a:ea typeface="Calibri" pitchFamily="34" charset="-122"/>
                <a:cs typeface="Calibri" pitchFamily="34" charset="-120"/>
              </a:rPr>
              <a:t>Conclusion</a:t>
            </a:r>
            <a:endParaRPr lang="en-US" sz="1100" dirty="0"/>
          </a:p>
        </p:txBody>
      </p:sp>
      <p:sp>
        <p:nvSpPr>
          <p:cNvPr id="40" name="Text 37"/>
          <p:cNvSpPr txBox="1"/>
          <p:nvPr/>
        </p:nvSpPr>
        <p:spPr>
          <a:xfrm>
            <a:off x="9802368" y="4663440"/>
            <a:ext cx="1883664" cy="168249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EPR in India has moved beyond a paper concept: it now has registration, targets, certificates and enforcement. Quality of compliance depends on verification and real material flows — the focus should be 'verified EPR', not simply 'more EPR'.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56032"/>
            <a:ext cx="7589520" cy="777240"/>
          </a:xfrm>
          <a:prstGeom prst="rect">
            <a:avLst/>
          </a:prstGeom>
          <a:noFill/>
          <a:ln/>
        </p:spPr>
        <p:txBody>
          <a:bodyPr wrap="square" lIns="0" tIns="0" rIns="0" bIns="0" rtlCol="0" anchor="ctr"/>
          <a:lstStyle/>
          <a:p>
            <a:pPr indent="0" marL="0">
              <a:buNone/>
            </a:pPr>
            <a:r>
              <a:rPr lang="en-US" sz="2200" b="1" dirty="0">
                <a:solidFill>
                  <a:srgbClr val="1B4332"/>
                </a:solidFill>
                <a:latin typeface="Cambria" pitchFamily="34" charset="0"/>
                <a:ea typeface="Cambria" pitchFamily="34" charset="-122"/>
                <a:cs typeface="Cambria" pitchFamily="34" charset="-120"/>
              </a:rPr>
              <a:t>Bengaluru — India's E-Waste Capital?</a:t>
            </a:r>
            <a:endParaRPr lang="en-US" sz="2200" dirty="0"/>
          </a:p>
        </p:txBody>
      </p:sp>
      <p:sp>
        <p:nvSpPr>
          <p:cNvPr id="3" name="Shape 1"/>
          <p:cNvSpPr/>
          <p:nvPr/>
        </p:nvSpPr>
        <p:spPr>
          <a:xfrm>
            <a:off x="8183880" y="256032"/>
            <a:ext cx="1737360" cy="777240"/>
          </a:xfrm>
          <a:prstGeom prst="rect">
            <a:avLst/>
          </a:prstGeom>
          <a:solidFill>
            <a:srgbClr val="1B4332"/>
          </a:solidFill>
          <a:ln w="12700">
            <a:solidFill>
              <a:srgbClr val="1B4332"/>
            </a:solidFill>
            <a:prstDash val="solid"/>
          </a:ln>
        </p:spPr>
      </p:sp>
      <p:sp>
        <p:nvSpPr>
          <p:cNvPr id="4" name="Text 2"/>
          <p:cNvSpPr txBox="1"/>
          <p:nvPr/>
        </p:nvSpPr>
        <p:spPr>
          <a:xfrm>
            <a:off x="8229600" y="283464"/>
            <a:ext cx="1645920" cy="384048"/>
          </a:xfrm>
          <a:prstGeom prst="rect">
            <a:avLst/>
          </a:prstGeom>
          <a:noFill/>
          <a:ln/>
        </p:spPr>
        <p:txBody>
          <a:bodyPr wrap="square" lIns="0" tIns="0" rIns="0" bIns="0" rtlCol="0" anchor="ctr"/>
          <a:lstStyle/>
          <a:p>
            <a:pPr algn="ctr" indent="0" marL="0">
              <a:buNone/>
            </a:pPr>
            <a:r>
              <a:rPr lang="en-US" sz="1500" b="1" dirty="0">
                <a:solidFill>
                  <a:srgbClr val="F4C95D"/>
                </a:solidFill>
                <a:latin typeface="Cambria" pitchFamily="34" charset="0"/>
                <a:ea typeface="Cambria" pitchFamily="34" charset="-122"/>
                <a:cs typeface="Cambria" pitchFamily="34" charset="-120"/>
              </a:rPr>
              <a:t>~12,000 t/yr</a:t>
            </a:r>
            <a:endParaRPr lang="en-US" sz="1500" dirty="0"/>
          </a:p>
        </p:txBody>
      </p:sp>
      <p:sp>
        <p:nvSpPr>
          <p:cNvPr id="5" name="Text 3"/>
          <p:cNvSpPr txBox="1"/>
          <p:nvPr/>
        </p:nvSpPr>
        <p:spPr>
          <a:xfrm>
            <a:off x="82296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estimated computer e-waste</a:t>
            </a:r>
            <a:endParaRPr lang="en-US" sz="850" dirty="0"/>
          </a:p>
        </p:txBody>
      </p:sp>
      <p:sp>
        <p:nvSpPr>
          <p:cNvPr id="6" name="Shape 4"/>
          <p:cNvSpPr/>
          <p:nvPr/>
        </p:nvSpPr>
        <p:spPr>
          <a:xfrm>
            <a:off x="10012680" y="256032"/>
            <a:ext cx="1737360" cy="777240"/>
          </a:xfrm>
          <a:prstGeom prst="rect">
            <a:avLst/>
          </a:prstGeom>
          <a:solidFill>
            <a:srgbClr val="1B4332"/>
          </a:solidFill>
          <a:ln w="12700">
            <a:solidFill>
              <a:srgbClr val="1B4332"/>
            </a:solidFill>
            <a:prstDash val="solid"/>
          </a:ln>
        </p:spPr>
      </p:sp>
      <p:sp>
        <p:nvSpPr>
          <p:cNvPr id="7" name="Text 5"/>
          <p:cNvSpPr txBox="1"/>
          <p:nvPr/>
        </p:nvSpPr>
        <p:spPr>
          <a:xfrm>
            <a:off x="10058400" y="283464"/>
            <a:ext cx="1645920" cy="384048"/>
          </a:xfrm>
          <a:prstGeom prst="rect">
            <a:avLst/>
          </a:prstGeom>
          <a:noFill/>
          <a:ln/>
        </p:spPr>
        <p:txBody>
          <a:bodyPr wrap="square" lIns="0" tIns="0" rIns="0" bIns="0" rtlCol="0" anchor="ctr"/>
          <a:lstStyle/>
          <a:p>
            <a:pPr algn="ctr" indent="0" marL="0">
              <a:buNone/>
            </a:pPr>
            <a:r>
              <a:rPr lang="en-US" sz="2000" b="1" dirty="0">
                <a:solidFill>
                  <a:srgbClr val="F4C95D"/>
                </a:solidFill>
                <a:latin typeface="Cambria" pitchFamily="34" charset="0"/>
                <a:ea typeface="Cambria" pitchFamily="34" charset="-122"/>
                <a:cs typeface="Cambria" pitchFamily="34" charset="-120"/>
              </a:rPr>
              <a:t>~15%</a:t>
            </a:r>
            <a:endParaRPr lang="en-US" sz="2000" dirty="0"/>
          </a:p>
        </p:txBody>
      </p:sp>
      <p:sp>
        <p:nvSpPr>
          <p:cNvPr id="8" name="Text 6"/>
          <p:cNvSpPr txBox="1"/>
          <p:nvPr/>
        </p:nvSpPr>
        <p:spPr>
          <a:xfrm>
            <a:off x="10058400" y="667512"/>
            <a:ext cx="1645920" cy="329184"/>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scientifically processed (2026)</a:t>
            </a:r>
            <a:endParaRPr lang="en-US" sz="850" dirty="0"/>
          </a:p>
        </p:txBody>
      </p:sp>
      <p:sp>
        <p:nvSpPr>
          <p:cNvPr id="9" name="Shape 7"/>
          <p:cNvSpPr/>
          <p:nvPr/>
        </p:nvSpPr>
        <p:spPr>
          <a:xfrm>
            <a:off x="411480" y="1143000"/>
            <a:ext cx="11365992" cy="731520"/>
          </a:xfrm>
          <a:prstGeom prst="rect">
            <a:avLst/>
          </a:prstGeom>
          <a:solidFill>
            <a:srgbClr val="F1F7F2"/>
          </a:solidFill>
          <a:ln w="12700">
            <a:solidFill>
              <a:srgbClr val="F1F7F2"/>
            </a:solidFill>
            <a:prstDash val="solid"/>
          </a:ln>
        </p:spPr>
      </p:sp>
      <p:sp>
        <p:nvSpPr>
          <p:cNvPr id="10" name="Text 8"/>
          <p:cNvSpPr txBox="1"/>
          <p:nvPr/>
        </p:nvSpPr>
        <p:spPr>
          <a:xfrm>
            <a:off x="521208" y="1161288"/>
            <a:ext cx="11155680" cy="694944"/>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Executive Summary  </a:t>
            </a:r>
            <a:pPr indent="0" marL="0">
              <a:buNone/>
            </a:pPr>
            <a:r>
              <a:rPr lang="en-US" sz="1000" dirty="0">
                <a:solidFill>
                  <a:srgbClr val="1F2933"/>
                </a:solidFill>
                <a:latin typeface="Calibri" pitchFamily="34" charset="0"/>
                <a:ea typeface="Calibri" pitchFamily="34" charset="-122"/>
                <a:cs typeface="Calibri" pitchFamily="34" charset="-120"/>
              </a:rPr>
              <a:t>Bengaluru is widely described as a major e-waste hub because of its concentration of IT, electronics consumption, repair, scrap and recycling. An older study estimated ~12,000 t/yr of computer-related e-waste, and a 2026 report cites the same with ~15% scientifically processed. Figures differ in year and method, so treat them as estimates, not a definitive city total.</a:t>
            </a:r>
            <a:endParaRPr lang="en-US" sz="1100" dirty="0"/>
          </a:p>
        </p:txBody>
      </p:sp>
      <p:sp>
        <p:nvSpPr>
          <p:cNvPr id="11" name="Shape 9"/>
          <p:cNvSpPr/>
          <p:nvPr/>
        </p:nvSpPr>
        <p:spPr>
          <a:xfrm>
            <a:off x="411480" y="1965960"/>
            <a:ext cx="2697480" cy="2240280"/>
          </a:xfrm>
          <a:prstGeom prst="rect">
            <a:avLst/>
          </a:prstGeom>
          <a:solidFill>
            <a:srgbClr val="F1F7F2"/>
          </a:solidFill>
          <a:ln w="12700">
            <a:solidFill>
              <a:srgbClr val="F1F7F2"/>
            </a:solidFill>
            <a:prstDash val="solid"/>
          </a:ln>
        </p:spPr>
      </p:sp>
      <p:sp>
        <p:nvSpPr>
          <p:cNvPr id="12" name="Text 10"/>
          <p:cNvSpPr txBox="1"/>
          <p:nvPr/>
        </p:nvSpPr>
        <p:spPr>
          <a:xfrm>
            <a:off x="52120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Background</a:t>
            </a:r>
            <a:endParaRPr lang="en-US" sz="1100" dirty="0"/>
          </a:p>
        </p:txBody>
      </p:sp>
      <p:sp>
        <p:nvSpPr>
          <p:cNvPr id="13" name="Text 11"/>
          <p:cNvSpPr txBox="1"/>
          <p:nvPr/>
        </p:nvSpPr>
        <p:spPr>
          <a:xfrm>
            <a:off x="52120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Tech-intensive economy creates a large base of computers, peripherals and phones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Ecosystem: consumers, traders, repair shops, dismantlers, scrap dealers, formal recyclers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Informal channels recover materials efficiently but may use unsafe processing</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Karnataka has a significant concentration of registered recyclers</a:t>
            </a:r>
            <a:endParaRPr lang="en-US" sz="1000" dirty="0"/>
          </a:p>
        </p:txBody>
      </p:sp>
      <p:sp>
        <p:nvSpPr>
          <p:cNvPr id="14" name="Shape 12"/>
          <p:cNvSpPr/>
          <p:nvPr/>
        </p:nvSpPr>
        <p:spPr>
          <a:xfrm>
            <a:off x="3291840" y="1965960"/>
            <a:ext cx="2697480" cy="2240280"/>
          </a:xfrm>
          <a:prstGeom prst="rect">
            <a:avLst/>
          </a:prstGeom>
          <a:solidFill>
            <a:srgbClr val="F1F7F2"/>
          </a:solidFill>
          <a:ln w="12700">
            <a:solidFill>
              <a:srgbClr val="F1F7F2"/>
            </a:solidFill>
            <a:prstDash val="solid"/>
          </a:ln>
        </p:spPr>
      </p:sp>
      <p:sp>
        <p:nvSpPr>
          <p:cNvPr id="15" name="Text 13"/>
          <p:cNvSpPr txBox="1"/>
          <p:nvPr/>
        </p:nvSpPr>
        <p:spPr>
          <a:xfrm>
            <a:off x="340156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Strategy / Initiative</a:t>
            </a:r>
            <a:endParaRPr lang="en-US" sz="1100" dirty="0"/>
          </a:p>
        </p:txBody>
      </p:sp>
      <p:sp>
        <p:nvSpPr>
          <p:cNvPr id="16" name="Text 14"/>
          <p:cNvSpPr txBox="1"/>
          <p:nvPr/>
        </p:nvSpPr>
        <p:spPr>
          <a:xfrm>
            <a:off x="340156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Formal facilities for scientific dismantling and recovery</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Repair, reuse and resale to extend product life</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Informal scrap networks aggregate devices and materials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State pollution-control oversight and national EPR rules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Potential integration of informal collectors into authorised chains</a:t>
            </a:r>
            <a:endParaRPr lang="en-US" sz="1000" dirty="0"/>
          </a:p>
        </p:txBody>
      </p:sp>
      <p:sp>
        <p:nvSpPr>
          <p:cNvPr id="17" name="Shape 15"/>
          <p:cNvSpPr/>
          <p:nvPr/>
        </p:nvSpPr>
        <p:spPr>
          <a:xfrm>
            <a:off x="6172200" y="1965960"/>
            <a:ext cx="2697480" cy="2240280"/>
          </a:xfrm>
          <a:prstGeom prst="rect">
            <a:avLst/>
          </a:prstGeom>
          <a:solidFill>
            <a:srgbClr val="F1F7F2"/>
          </a:solidFill>
          <a:ln w="12700">
            <a:solidFill>
              <a:srgbClr val="F1F7F2"/>
            </a:solidFill>
            <a:prstDash val="solid"/>
          </a:ln>
        </p:spPr>
      </p:sp>
      <p:sp>
        <p:nvSpPr>
          <p:cNvPr id="18" name="Text 16"/>
          <p:cNvSpPr txBox="1"/>
          <p:nvPr/>
        </p:nvSpPr>
        <p:spPr>
          <a:xfrm>
            <a:off x="628192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Impact &amp; Results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81928" y="2331720"/>
          <a:ext cx="2478024" cy="914400"/>
        </p:xfrm>
        <a:graphic>
          <a:graphicData uri="http://schemas.openxmlformats.org/drawingml/2006/table">
            <a:tbl>
              <a:tblPr/>
              <a:tblGrid>
                <a:gridCol w="1371600"/>
                <a:gridCol w="1106424"/>
              </a:tblGrid>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Older Bangalore study</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~12,000 t/yr</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2026 media estimate</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~12,000 t/yr</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2026 scientific processing</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~15% of stream</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Karnataka recyclers, FY2024-25</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57</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r h="301752">
                <a:tc>
                  <a:txBody>
                    <a:bodyPr/>
                    <a:lstStyle/>
                    <a:p>
                      <a:pPr indent="0" marL="0">
                        <a:buNone/>
                      </a:pPr>
                      <a:r>
                        <a:rPr lang="en-US" sz="900" dirty="0">
                          <a:solidFill>
                            <a:srgbClr val="52606D"/>
                          </a:solidFill>
                          <a:latin typeface="Calibri" pitchFamily="34" charset="0"/>
                          <a:ea typeface="Calibri" pitchFamily="34" charset="-122"/>
                          <a:cs typeface="Calibri" pitchFamily="34" charset="-120"/>
                        </a:rPr>
                        <a:t>Key lesson</a:t>
                      </a:r>
                      <a:endParaRPr lang="en-US" sz="90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c>
                  <a:txBody>
                    <a:bodyPr/>
                    <a:lstStyle/>
                    <a:p>
                      <a:pPr algn="r" indent="0" marL="0">
                        <a:buNone/>
                      </a:pPr>
                      <a:r>
                        <a:rPr lang="en-US" sz="950" b="1" dirty="0">
                          <a:solidFill>
                            <a:srgbClr val="1B4332"/>
                          </a:solidFill>
                          <a:latin typeface="Calibri" pitchFamily="34" charset="0"/>
                          <a:ea typeface="Calibri" pitchFamily="34" charset="-122"/>
                          <a:cs typeface="Calibri" pitchFamily="34" charset="-120"/>
                        </a:rPr>
                        <a:t>Formal capacity ≠ formal collection</a:t>
                      </a:r>
                      <a:endParaRPr lang="en-US" sz="950" dirty="0">
                        <a:latin typeface="Calibri" charset="0"/>
                        <a:ea typeface="Calibri" charset="0"/>
                        <a:cs typeface="Calibri" charset="0"/>
                      </a:endParaRPr>
                    </a:p>
                  </a:txBody>
                  <a:tcPr marL="36576" marR="36576" marT="0" marB="0" anchor="ctr">
                    <a:lnL w="6350" cap="flat" cmpd="sng" algn="ctr">
                      <a:solidFill>
                        <a:srgbClr val="D5E3D9"/>
                      </a:solidFill>
                      <a:prstDash val="solid"/>
                      <a:round/>
                      <a:headEnd type="none" w="med" len="med"/>
                      <a:tailEnd type="none" w="med" len="med"/>
                    </a:lnL>
                    <a:lnR w="6350" cap="flat" cmpd="sng" algn="ctr">
                      <a:solidFill>
                        <a:srgbClr val="D5E3D9"/>
                      </a:solidFill>
                      <a:prstDash val="solid"/>
                      <a:round/>
                      <a:headEnd type="none" w="med" len="med"/>
                      <a:tailEnd type="none" w="med" len="med"/>
                    </a:lnR>
                    <a:lnT w="6350" cap="flat" cmpd="sng" algn="ctr">
                      <a:solidFill>
                        <a:srgbClr val="D5E3D9"/>
                      </a:solidFill>
                      <a:prstDash val="solid"/>
                      <a:round/>
                      <a:headEnd type="none" w="med" len="med"/>
                      <a:tailEnd type="none" w="med" len="med"/>
                    </a:lnT>
                    <a:lnB w="6350" cap="flat" cmpd="sng" algn="ctr">
                      <a:solidFill>
                        <a:srgbClr val="D5E3D9"/>
                      </a:solidFill>
                      <a:prstDash val="solid"/>
                      <a:round/>
                      <a:headEnd type="none" w="med" len="med"/>
                      <a:tailEnd type="none" w="med" len="med"/>
                    </a:lnB>
                  </a:tcPr>
                </a:tc>
              </a:tr>
            </a:tbl>
          </a:graphicData>
        </a:graphic>
      </p:graphicFrame>
      <p:sp>
        <p:nvSpPr>
          <p:cNvPr id="20" name="Shape 17"/>
          <p:cNvSpPr/>
          <p:nvPr/>
        </p:nvSpPr>
        <p:spPr>
          <a:xfrm>
            <a:off x="9052560" y="1965960"/>
            <a:ext cx="2697480" cy="2240280"/>
          </a:xfrm>
          <a:prstGeom prst="rect">
            <a:avLst/>
          </a:prstGeom>
          <a:solidFill>
            <a:srgbClr val="F1F7F2"/>
          </a:solidFill>
          <a:ln w="12700">
            <a:solidFill>
              <a:srgbClr val="F1F7F2"/>
            </a:solidFill>
            <a:prstDash val="solid"/>
          </a:ln>
        </p:spPr>
      </p:sp>
      <p:sp>
        <p:nvSpPr>
          <p:cNvPr id="21" name="Text 18"/>
          <p:cNvSpPr txBox="1"/>
          <p:nvPr/>
        </p:nvSpPr>
        <p:spPr>
          <a:xfrm>
            <a:off x="9162288" y="2020824"/>
            <a:ext cx="247802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Comparison with India</a:t>
            </a:r>
            <a:endParaRPr lang="en-US" sz="1100" dirty="0"/>
          </a:p>
        </p:txBody>
      </p:sp>
      <p:sp>
        <p:nvSpPr>
          <p:cNvPr id="22" name="Text 19"/>
          <p:cNvSpPr txBox="1"/>
          <p:nvPr/>
        </p:nvSpPr>
        <p:spPr>
          <a:xfrm>
            <a:off x="9162288" y="2313432"/>
            <a:ext cx="2496312" cy="1837944"/>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Shows India's wider gap: recycling capacity and EPR registration outgrow collection and formal channelisation</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vs Switzerland: no universal take-back convenience or advance-fee financing</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vs Pune's SWaCH: e-waste is product-specific — needs electronics take-back, data security, specialised recycling</a:t>
            </a:r>
            <a:endParaRPr lang="en-US" sz="1000" dirty="0"/>
          </a:p>
        </p:txBody>
      </p:sp>
      <p:sp>
        <p:nvSpPr>
          <p:cNvPr id="23" name="Shape 20"/>
          <p:cNvSpPr/>
          <p:nvPr/>
        </p:nvSpPr>
        <p:spPr>
          <a:xfrm>
            <a:off x="411480" y="4315968"/>
            <a:ext cx="2761488" cy="996696"/>
          </a:xfrm>
          <a:prstGeom prst="rect">
            <a:avLst/>
          </a:prstGeom>
          <a:solidFill>
            <a:srgbClr val="E3F1E6"/>
          </a:solidFill>
          <a:ln w="12700">
            <a:solidFill>
              <a:srgbClr val="E3F1E6"/>
            </a:solidFill>
            <a:prstDash val="solid"/>
          </a:ln>
        </p:spPr>
      </p:sp>
      <p:sp>
        <p:nvSpPr>
          <p:cNvPr id="24" name="Text 21"/>
          <p:cNvSpPr txBox="1"/>
          <p:nvPr/>
        </p:nvSpPr>
        <p:spPr>
          <a:xfrm>
            <a:off x="521208" y="4370832"/>
            <a:ext cx="2542032"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STRENGTHS</a:t>
            </a:r>
            <a:endParaRPr lang="en-US" sz="1100" dirty="0"/>
          </a:p>
        </p:txBody>
      </p:sp>
      <p:sp>
        <p:nvSpPr>
          <p:cNvPr id="25" name="Text 22"/>
          <p:cNvSpPr txBox="1"/>
          <p:nvPr/>
        </p:nvSpPr>
        <p:spPr>
          <a:xfrm>
            <a:off x="521208"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Large technology ecosystem</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Skilled repair/reuse market</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Existing formal recyclers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High consumer awareness potential</a:t>
            </a:r>
            <a:endParaRPr lang="en-US" sz="900" dirty="0"/>
          </a:p>
        </p:txBody>
      </p:sp>
      <p:sp>
        <p:nvSpPr>
          <p:cNvPr id="26" name="Shape 23"/>
          <p:cNvSpPr/>
          <p:nvPr/>
        </p:nvSpPr>
        <p:spPr>
          <a:xfrm>
            <a:off x="3264408" y="4315968"/>
            <a:ext cx="2761488" cy="996696"/>
          </a:xfrm>
          <a:prstGeom prst="rect">
            <a:avLst/>
          </a:prstGeom>
          <a:solidFill>
            <a:srgbClr val="FCEFD9"/>
          </a:solidFill>
          <a:ln w="12700">
            <a:solidFill>
              <a:srgbClr val="FCEFD9"/>
            </a:solidFill>
            <a:prstDash val="solid"/>
          </a:ln>
        </p:spPr>
      </p:sp>
      <p:sp>
        <p:nvSpPr>
          <p:cNvPr id="27" name="Text 24"/>
          <p:cNvSpPr txBox="1"/>
          <p:nvPr/>
        </p:nvSpPr>
        <p:spPr>
          <a:xfrm>
            <a:off x="3374136" y="4370832"/>
            <a:ext cx="2542032" cy="256032"/>
          </a:xfrm>
          <a:prstGeom prst="rect">
            <a:avLst/>
          </a:prstGeom>
          <a:noFill/>
          <a:ln/>
        </p:spPr>
        <p:txBody>
          <a:bodyPr wrap="square" lIns="0" tIns="0" rIns="0" bIns="0" rtlCol="0" anchor="ctr"/>
          <a:lstStyle/>
          <a:p>
            <a:pPr indent="0" marL="0">
              <a:buNone/>
            </a:pPr>
            <a:r>
              <a:rPr lang="en-US" sz="1100" b="1" dirty="0">
                <a:solidFill>
                  <a:srgbClr val="8A5300"/>
                </a:solidFill>
                <a:latin typeface="Calibri" pitchFamily="34" charset="0"/>
                <a:ea typeface="Calibri" pitchFamily="34" charset="-122"/>
                <a:cs typeface="Calibri" pitchFamily="34" charset="-120"/>
              </a:rPr>
              <a:t>WEAKNESSES</a:t>
            </a:r>
            <a:endParaRPr lang="en-US" sz="1100" dirty="0"/>
          </a:p>
        </p:txBody>
      </p:sp>
      <p:sp>
        <p:nvSpPr>
          <p:cNvPr id="28" name="Text 25"/>
          <p:cNvSpPr txBox="1"/>
          <p:nvPr/>
        </p:nvSpPr>
        <p:spPr>
          <a:xfrm>
            <a:off x="3374136" y="4636008"/>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Informal processing risks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Collection fragmentation</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Data-security concerns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City estimates vary by methodology</a:t>
            </a:r>
            <a:endParaRPr lang="en-US" sz="900" dirty="0"/>
          </a:p>
        </p:txBody>
      </p:sp>
      <p:sp>
        <p:nvSpPr>
          <p:cNvPr id="29" name="Shape 26"/>
          <p:cNvSpPr/>
          <p:nvPr/>
        </p:nvSpPr>
        <p:spPr>
          <a:xfrm>
            <a:off x="411480" y="5404104"/>
            <a:ext cx="2761488" cy="996696"/>
          </a:xfrm>
          <a:prstGeom prst="rect">
            <a:avLst/>
          </a:prstGeom>
          <a:solidFill>
            <a:srgbClr val="DDEFF3"/>
          </a:solidFill>
          <a:ln w="12700">
            <a:solidFill>
              <a:srgbClr val="DDEFF3"/>
            </a:solidFill>
            <a:prstDash val="solid"/>
          </a:ln>
        </p:spPr>
      </p:sp>
      <p:sp>
        <p:nvSpPr>
          <p:cNvPr id="30" name="Text 27"/>
          <p:cNvSpPr txBox="1"/>
          <p:nvPr/>
        </p:nvSpPr>
        <p:spPr>
          <a:xfrm>
            <a:off x="521208" y="5458968"/>
            <a:ext cx="2542032" cy="256032"/>
          </a:xfrm>
          <a:prstGeom prst="rect">
            <a:avLst/>
          </a:prstGeom>
          <a:noFill/>
          <a:ln/>
        </p:spPr>
        <p:txBody>
          <a:bodyPr wrap="square" lIns="0" tIns="0" rIns="0" bIns="0" rtlCol="0" anchor="ctr"/>
          <a:lstStyle/>
          <a:p>
            <a:pPr indent="0" marL="0">
              <a:buNone/>
            </a:pPr>
            <a:r>
              <a:rPr lang="en-US" sz="1100" b="1" dirty="0">
                <a:solidFill>
                  <a:srgbClr val="1F6F8B"/>
                </a:solidFill>
                <a:latin typeface="Calibri" pitchFamily="34" charset="0"/>
                <a:ea typeface="Calibri" pitchFamily="34" charset="-122"/>
                <a:cs typeface="Calibri" pitchFamily="34" charset="-120"/>
              </a:rPr>
              <a:t>OPPORTUNITIES</a:t>
            </a:r>
            <a:endParaRPr lang="en-US" sz="1100" dirty="0"/>
          </a:p>
        </p:txBody>
      </p:sp>
      <p:sp>
        <p:nvSpPr>
          <p:cNvPr id="31" name="Text 28"/>
          <p:cNvSpPr txBox="1"/>
          <p:nvPr/>
        </p:nvSpPr>
        <p:spPr>
          <a:xfrm>
            <a:off x="521208"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Corporate take-back</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Refurbished-device market</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Digital collection tracking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IT-sector innovation</a:t>
            </a:r>
            <a:endParaRPr lang="en-US" sz="900" dirty="0"/>
          </a:p>
        </p:txBody>
      </p:sp>
      <p:sp>
        <p:nvSpPr>
          <p:cNvPr id="32" name="Shape 29"/>
          <p:cNvSpPr/>
          <p:nvPr/>
        </p:nvSpPr>
        <p:spPr>
          <a:xfrm>
            <a:off x="3264408" y="5404104"/>
            <a:ext cx="2761488" cy="996696"/>
          </a:xfrm>
          <a:prstGeom prst="rect">
            <a:avLst/>
          </a:prstGeom>
          <a:solidFill>
            <a:srgbClr val="F8E1DE"/>
          </a:solidFill>
          <a:ln w="12700">
            <a:solidFill>
              <a:srgbClr val="F8E1DE"/>
            </a:solidFill>
            <a:prstDash val="solid"/>
          </a:ln>
        </p:spPr>
      </p:sp>
      <p:sp>
        <p:nvSpPr>
          <p:cNvPr id="33" name="Text 30"/>
          <p:cNvSpPr txBox="1"/>
          <p:nvPr/>
        </p:nvSpPr>
        <p:spPr>
          <a:xfrm>
            <a:off x="3374136" y="5458968"/>
            <a:ext cx="2542032" cy="256032"/>
          </a:xfrm>
          <a:prstGeom prst="rect">
            <a:avLst/>
          </a:prstGeom>
          <a:noFill/>
          <a:ln/>
        </p:spPr>
        <p:txBody>
          <a:bodyPr wrap="square" lIns="0" tIns="0" rIns="0" bIns="0" rtlCol="0" anchor="ctr"/>
          <a:lstStyle/>
          <a:p>
            <a:pPr indent="0" marL="0">
              <a:buNone/>
            </a:pPr>
            <a:r>
              <a:rPr lang="en-US" sz="1100" b="1" dirty="0">
                <a:solidFill>
                  <a:srgbClr val="A23B2A"/>
                </a:solidFill>
                <a:latin typeface="Calibri" pitchFamily="34" charset="0"/>
                <a:ea typeface="Calibri" pitchFamily="34" charset="-122"/>
                <a:cs typeface="Calibri" pitchFamily="34" charset="-120"/>
              </a:rPr>
              <a:t>THREATS</a:t>
            </a:r>
            <a:endParaRPr lang="en-US" sz="1100" dirty="0"/>
          </a:p>
        </p:txBody>
      </p:sp>
      <p:sp>
        <p:nvSpPr>
          <p:cNvPr id="34" name="Text 31"/>
          <p:cNvSpPr txBox="1"/>
          <p:nvPr/>
        </p:nvSpPr>
        <p:spPr>
          <a:xfrm>
            <a:off x="3374136" y="5724144"/>
            <a:ext cx="2578608" cy="649224"/>
          </a:xfrm>
          <a:prstGeom prst="rect">
            <a:avLst/>
          </a:prstGeom>
          <a:noFill/>
          <a:ln/>
        </p:spPr>
        <p:txBody>
          <a:bodyPr wrap="square" lIns="0" tIns="0" rIns="0" bIns="0" rtlCol="0" anchor="t"/>
          <a:lstStyle/>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Rapid device replacement</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Hazardous informal processing</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Battery risks</a:t>
            </a:r>
            <a:endParaRPr lang="en-US" sz="900" dirty="0"/>
          </a:p>
          <a:p>
            <a:pPr marL="139700" indent="-139700">
              <a:spcAft>
                <a:spcPts val="250"/>
              </a:spcAft>
              <a:buSzPct val="100000"/>
              <a:buChar char="•"/>
            </a:pPr>
            <a:r>
              <a:rPr lang="en-US" sz="900" dirty="0">
                <a:solidFill>
                  <a:srgbClr val="1F2933"/>
                </a:solidFill>
                <a:latin typeface="Calibri" pitchFamily="34" charset="0"/>
                <a:ea typeface="Calibri" pitchFamily="34" charset="-122"/>
                <a:cs typeface="Calibri" pitchFamily="34" charset="-120"/>
              </a:rPr>
              <a:t>Loss of valuable materials</a:t>
            </a:r>
            <a:endParaRPr lang="en-US" sz="900" dirty="0"/>
          </a:p>
        </p:txBody>
      </p:sp>
      <p:sp>
        <p:nvSpPr>
          <p:cNvPr id="35" name="Shape 32"/>
          <p:cNvSpPr/>
          <p:nvPr/>
        </p:nvSpPr>
        <p:spPr>
          <a:xfrm>
            <a:off x="6263640" y="4315968"/>
            <a:ext cx="3291840" cy="2084832"/>
          </a:xfrm>
          <a:prstGeom prst="rect">
            <a:avLst/>
          </a:prstGeom>
          <a:solidFill>
            <a:srgbClr val="F1F7F2"/>
          </a:solidFill>
          <a:ln w="12700">
            <a:solidFill>
              <a:srgbClr val="F1F7F2"/>
            </a:solidFill>
            <a:prstDash val="solid"/>
          </a:ln>
        </p:spPr>
      </p:sp>
      <p:sp>
        <p:nvSpPr>
          <p:cNvPr id="36" name="Text 33"/>
          <p:cNvSpPr txBox="1"/>
          <p:nvPr/>
        </p:nvSpPr>
        <p:spPr>
          <a:xfrm>
            <a:off x="6373368" y="4370832"/>
            <a:ext cx="3072384" cy="256032"/>
          </a:xfrm>
          <a:prstGeom prst="rect">
            <a:avLst/>
          </a:prstGeom>
          <a:noFill/>
          <a:ln/>
        </p:spPr>
        <p:txBody>
          <a:bodyPr wrap="square" lIns="0" tIns="0" rIns="0" bIns="0"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Recommendations</a:t>
            </a:r>
            <a:endParaRPr lang="en-US" sz="1100" dirty="0"/>
          </a:p>
        </p:txBody>
      </p:sp>
      <p:sp>
        <p:nvSpPr>
          <p:cNvPr id="37" name="Text 34"/>
          <p:cNvSpPr txBox="1"/>
          <p:nvPr/>
        </p:nvSpPr>
        <p:spPr>
          <a:xfrm>
            <a:off x="6373368" y="4663440"/>
            <a:ext cx="3090672" cy="1682496"/>
          </a:xfrm>
          <a:prstGeom prst="rect">
            <a:avLst/>
          </a:prstGeom>
          <a:noFill/>
          <a:ln/>
        </p:spPr>
        <p:txBody>
          <a:bodyPr wrap="square" lIns="0" tIns="0" rIns="0" bIns="0" rtlCol="0" anchor="t"/>
          <a:lstStyle/>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Ward-level collection days and permanent retail drop-off points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Partner with repair shops and scrap dealers via training and buy-back contracts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Secure data-destruction certificates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Track material flows to authorised recycler outputs</a:t>
            </a:r>
            <a:endParaRPr lang="en-US" sz="1000" dirty="0"/>
          </a:p>
          <a:p>
            <a:pPr marL="139700" indent="-139700">
              <a:spcAft>
                <a:spcPts val="250"/>
              </a:spcAft>
              <a:buSzPct val="100000"/>
              <a:buChar char="•"/>
            </a:pPr>
            <a:r>
              <a:rPr lang="en-US" sz="1000" dirty="0">
                <a:solidFill>
                  <a:srgbClr val="1F2933"/>
                </a:solidFill>
                <a:latin typeface="Calibri" pitchFamily="34" charset="0"/>
                <a:ea typeface="Calibri" pitchFamily="34" charset="-122"/>
                <a:cs typeface="Calibri" pitchFamily="34" charset="-120"/>
              </a:rPr>
              <a:t>Use IT sector to test corporate take-back and refurbished-device markets</a:t>
            </a:r>
            <a:endParaRPr lang="en-US" sz="1000" dirty="0"/>
          </a:p>
        </p:txBody>
      </p:sp>
      <p:sp>
        <p:nvSpPr>
          <p:cNvPr id="38" name="Shape 35"/>
          <p:cNvSpPr/>
          <p:nvPr/>
        </p:nvSpPr>
        <p:spPr>
          <a:xfrm>
            <a:off x="9692640" y="4315968"/>
            <a:ext cx="2084832" cy="2084832"/>
          </a:xfrm>
          <a:prstGeom prst="rect">
            <a:avLst/>
          </a:prstGeom>
          <a:solidFill>
            <a:srgbClr val="1B4332"/>
          </a:solidFill>
          <a:ln w="12700">
            <a:solidFill>
              <a:srgbClr val="1B4332"/>
            </a:solidFill>
            <a:prstDash val="solid"/>
          </a:ln>
        </p:spPr>
      </p:sp>
      <p:sp>
        <p:nvSpPr>
          <p:cNvPr id="39" name="Text 36"/>
          <p:cNvSpPr txBox="1"/>
          <p:nvPr/>
        </p:nvSpPr>
        <p:spPr>
          <a:xfrm>
            <a:off x="9802368" y="4370832"/>
            <a:ext cx="1865376" cy="256032"/>
          </a:xfrm>
          <a:prstGeom prst="rect">
            <a:avLst/>
          </a:prstGeom>
          <a:noFill/>
          <a:ln/>
        </p:spPr>
        <p:txBody>
          <a:bodyPr wrap="square" lIns="0" tIns="0" rIns="0" bIns="0" rtlCol="0" anchor="ctr"/>
          <a:lstStyle/>
          <a:p>
            <a:pPr indent="0" marL="0">
              <a:buNone/>
            </a:pPr>
            <a:r>
              <a:rPr lang="en-US" sz="1100" b="1" dirty="0">
                <a:solidFill>
                  <a:srgbClr val="F4C95D"/>
                </a:solidFill>
                <a:latin typeface="Calibri" pitchFamily="34" charset="0"/>
                <a:ea typeface="Calibri" pitchFamily="34" charset="-122"/>
                <a:cs typeface="Calibri" pitchFamily="34" charset="-120"/>
              </a:rPr>
              <a:t>Conclusion</a:t>
            </a:r>
            <a:endParaRPr lang="en-US" sz="1100" dirty="0"/>
          </a:p>
        </p:txBody>
      </p:sp>
      <p:sp>
        <p:nvSpPr>
          <p:cNvPr id="40" name="Text 37"/>
          <p:cNvSpPr txBox="1"/>
          <p:nvPr/>
        </p:nvSpPr>
        <p:spPr>
          <a:xfrm>
            <a:off x="9802368" y="4663440"/>
            <a:ext cx="1883664" cy="1682496"/>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Bengaluru matters for the scale and density of its electronics economy. Collection, formalisation and safe processing must grow together — the biggest opportunity is linking its repair/scrap ecosystem with verified formal recycling.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05BFBD7D7D0F459F2EB6DF2A577303" ma:contentTypeVersion="12" ma:contentTypeDescription="Create a new document." ma:contentTypeScope="" ma:versionID="8528867ffa347892931992dba061e8fc">
  <xsd:schema xmlns:xsd="http://www.w3.org/2001/XMLSchema" xmlns:xs="http://www.w3.org/2001/XMLSchema" xmlns:p="http://schemas.microsoft.com/office/2006/metadata/properties" xmlns:ns2="01a789ed-3b06-4a12-abcb-8250f314dd0b" xmlns:ns3="44678d20-5b6e-4792-b133-ca784477d689" targetNamespace="http://schemas.microsoft.com/office/2006/metadata/properties" ma:root="true" ma:fieldsID="3a6a2aa65aa1b5a2272dcd5b5e15d211" ns2:_="" ns3:_="">
    <xsd:import namespace="01a789ed-3b06-4a12-abcb-8250f314dd0b"/>
    <xsd:import namespace="44678d20-5b6e-4792-b133-ca784477d68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a789ed-3b06-4a12-abcb-8250f314dd0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5c09e8c-4242-4efc-8aa0-958213fa9c5a"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678d20-5b6e-4792-b133-ca784477d68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9a17da5-126c-488b-b448-998f78a263bb}" ma:internalName="TaxCatchAll" ma:showField="CatchAllData" ma:web="44678d20-5b6e-4792-b133-ca784477d6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01a789ed-3b06-4a12-abcb-8250f314dd0b" xsi:nil="true"/>
    <lcf76f155ced4ddcb4097134ff3c332f xmlns="01a789ed-3b06-4a12-abcb-8250f314dd0b">
      <Terms xmlns="http://schemas.microsoft.com/office/infopath/2007/PartnerControls"/>
    </lcf76f155ced4ddcb4097134ff3c332f>
    <TaxCatchAll xmlns="44678d20-5b6e-4792-b133-ca784477d689" xsi:nil="true"/>
  </documentManagement>
</p:properties>
</file>

<file path=customXml/itemProps1.xml><?xml version="1.0" encoding="utf-8"?>
<ds:datastoreItem xmlns:ds="http://schemas.openxmlformats.org/officeDocument/2006/customXml" ds:itemID="{C56D8ABF-5A5A-4B1B-9E45-D0E81BD9C710}"/>
</file>

<file path=customXml/itemProps2.xml><?xml version="1.0" encoding="utf-8"?>
<ds:datastoreItem xmlns:ds="http://schemas.openxmlformats.org/officeDocument/2006/customXml" ds:itemID="{4A379E0B-7CDB-4115-8B9B-86E42A912082}"/>
</file>

<file path=customXml/itemProps3.xml><?xml version="1.0" encoding="utf-8"?>
<ds:datastoreItem xmlns:ds="http://schemas.openxmlformats.org/officeDocument/2006/customXml" ds:itemID="{D8CD1766-6F07-4A03-9F42-8885F361AF74}"/>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Waste Management &amp; E-Waste Case Studies</dc:title>
  <dc:subject>PptxGenJS Presentation</dc:subject>
  <dc:creator>PptxGenJS</dc:creator>
  <cp:lastModifiedBy>PptxGenJS</cp:lastModifiedBy>
  <cp:revision>1</cp:revision>
  <dcterms:created xsi:type="dcterms:W3CDTF">2026-09-29T03:44:19Z</dcterms:created>
  <dcterms:modified xsi:type="dcterms:W3CDTF">2026-09-29T03:44:19Z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0x0101003705BFBD7D7D0F459F2EB6DF2A577303</vt:lpwstr>
  </property>
</Properties>
</file>